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4" r:id="rId4"/>
    <p:sldId id="273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57" r:id="rId18"/>
    <p:sldId id="258" r:id="rId19"/>
    <p:sldId id="259" r:id="rId20"/>
    <p:sldId id="260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etcomposer.org/installer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snipe/snipe-it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SNIPE-IT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Annaelle Mpassi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Qu'est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SNIPE-IT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endParaRPr lang="en-US" sz="2400" b="1" dirty="0">
              <a:solidFill>
                <a:srgbClr val="1F1F1F"/>
              </a:solidFill>
              <a:latin typeface="Aptos Display"/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Snipe-IT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est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une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application web open-source de gestion de parc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informatique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conçue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pour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remplacer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les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suivis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fastidieux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sur des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fichiers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Excel. Elle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sert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à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centraliser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l'inventaire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de tout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votre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matériel, de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vos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licences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et de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vos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consommables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pour savoir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exactement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qui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possède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quel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équipement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à un instant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donné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. Au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quotidien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elle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simplifie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grandement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l'attribution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des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appareils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aux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utilisateurs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, le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suivi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des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garanties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, et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permet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même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de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générer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des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étiquettes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QR codes pour scanner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rapidement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vos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biens</a:t>
            </a:r>
            <a:r>
              <a:rPr lang="en-US" sz="2400" dirty="0">
                <a:solidFill>
                  <a:srgbClr val="1F1F1F"/>
                </a:solidFill>
                <a:latin typeface="Aptos Display"/>
                <a:ea typeface="+mn-lt"/>
                <a:cs typeface="+mn-lt"/>
              </a:rPr>
              <a:t>.</a:t>
            </a:r>
            <a:endParaRPr lang="en-US" sz="2400" dirty="0">
              <a:solidFill>
                <a:srgbClr val="1F1F1F"/>
              </a:solidFill>
              <a:latin typeface="Aptos Display"/>
            </a:endParaRPr>
          </a:p>
          <a:p>
            <a:endParaRPr lang="en-US" b="1" dirty="0">
              <a:solidFill>
                <a:srgbClr val="1F1F1F"/>
              </a:solidFill>
            </a:endParaRPr>
          </a:p>
          <a:p>
            <a:endParaRPr lang="en-US" dirty="0">
              <a:solidFill>
                <a:srgbClr val="1F1F1F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LES PREREQUIS 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Système </a:t>
            </a:r>
            <a:r>
              <a:rPr lang="en-US" sz="3200" dirty="0" err="1"/>
              <a:t>d'exploitation</a:t>
            </a:r>
            <a:r>
              <a:rPr lang="en-US" sz="3200" dirty="0"/>
              <a:t> et Réseau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ptos Display"/>
            </a:endParaRPr>
          </a:p>
          <a:p>
            <a:pPr marL="0" indent="0">
              <a:buNone/>
            </a:pPr>
            <a:r>
              <a:rPr lang="en-US" dirty="0">
                <a:latin typeface="Aptos Display"/>
                <a:ea typeface="+mn-lt"/>
                <a:cs typeface="+mn-lt"/>
              </a:rPr>
              <a:t> Système </a:t>
            </a:r>
            <a:r>
              <a:rPr lang="en-US" dirty="0" err="1">
                <a:latin typeface="Aptos Display"/>
                <a:ea typeface="+mn-lt"/>
                <a:cs typeface="+mn-lt"/>
              </a:rPr>
              <a:t>d'exploitation</a:t>
            </a:r>
            <a:r>
              <a:rPr lang="en-US" dirty="0">
                <a:latin typeface="Aptos Display"/>
                <a:ea typeface="+mn-lt"/>
                <a:cs typeface="+mn-lt"/>
              </a:rPr>
              <a:t> : Un </a:t>
            </a:r>
            <a:r>
              <a:rPr lang="en-US" dirty="0" err="1">
                <a:latin typeface="Aptos Display"/>
                <a:ea typeface="+mn-lt"/>
                <a:cs typeface="+mn-lt"/>
              </a:rPr>
              <a:t>serveur</a:t>
            </a:r>
            <a:r>
              <a:rPr lang="en-US" dirty="0">
                <a:latin typeface="Aptos Display"/>
                <a:ea typeface="+mn-lt"/>
                <a:cs typeface="+mn-lt"/>
              </a:rPr>
              <a:t> Linux, de </a:t>
            </a:r>
            <a:r>
              <a:rPr lang="en-US" dirty="0" err="1">
                <a:latin typeface="Aptos Display"/>
                <a:ea typeface="+mn-lt"/>
                <a:cs typeface="+mn-lt"/>
              </a:rPr>
              <a:t>préférence</a:t>
            </a:r>
            <a:r>
              <a:rPr lang="en-US" dirty="0">
                <a:latin typeface="Aptos Display"/>
                <a:ea typeface="+mn-lt"/>
                <a:cs typeface="+mn-lt"/>
              </a:rPr>
              <a:t> Ubuntu les versions 20.04, 22.04 </a:t>
            </a:r>
            <a:r>
              <a:rPr lang="en-US" dirty="0" err="1">
                <a:latin typeface="Aptos Display"/>
                <a:ea typeface="+mn-lt"/>
                <a:cs typeface="+mn-lt"/>
              </a:rPr>
              <a:t>ou</a:t>
            </a:r>
            <a:r>
              <a:rPr lang="en-US" dirty="0">
                <a:latin typeface="Aptos Display"/>
                <a:ea typeface="+mn-lt"/>
                <a:cs typeface="+mn-lt"/>
              </a:rPr>
              <a:t> 24.04 </a:t>
            </a:r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err="1">
                <a:latin typeface="Aptos Display"/>
                <a:ea typeface="+mn-lt"/>
                <a:cs typeface="+mn-lt"/>
              </a:rPr>
              <a:t>Accès</a:t>
            </a:r>
            <a:r>
              <a:rPr lang="en-US" dirty="0">
                <a:latin typeface="Aptos Display"/>
                <a:ea typeface="+mn-lt"/>
                <a:cs typeface="+mn-lt"/>
              </a:rPr>
              <a:t> réseau : Une </a:t>
            </a:r>
            <a:r>
              <a:rPr lang="en-US" err="1">
                <a:latin typeface="Aptos Display"/>
                <a:ea typeface="+mn-lt"/>
                <a:cs typeface="+mn-lt"/>
              </a:rPr>
              <a:t>adresse</a:t>
            </a:r>
            <a:r>
              <a:rPr lang="en-US" dirty="0">
                <a:latin typeface="Aptos Display"/>
                <a:ea typeface="+mn-lt"/>
                <a:cs typeface="+mn-lt"/>
              </a:rPr>
              <a:t> IP locale fixe </a:t>
            </a:r>
            <a:r>
              <a:rPr lang="en-US" err="1">
                <a:latin typeface="Aptos Display"/>
                <a:ea typeface="+mn-lt"/>
                <a:cs typeface="+mn-lt"/>
              </a:rPr>
              <a:t>ou</a:t>
            </a:r>
            <a:r>
              <a:rPr lang="en-US" dirty="0">
                <a:latin typeface="Aptos Display"/>
                <a:ea typeface="+mn-lt"/>
                <a:cs typeface="+mn-lt"/>
              </a:rPr>
              <a:t> un nom de </a:t>
            </a:r>
            <a:r>
              <a:rPr lang="en-US" err="1">
                <a:latin typeface="Aptos Display"/>
                <a:ea typeface="+mn-lt"/>
                <a:cs typeface="+mn-lt"/>
              </a:rPr>
              <a:t>domaine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valide</a:t>
            </a:r>
            <a:r>
              <a:rPr lang="en-US" dirty="0">
                <a:latin typeface="Aptos Display"/>
                <a:ea typeface="+mn-lt"/>
                <a:cs typeface="+mn-lt"/>
              </a:rPr>
              <a:t> pour </a:t>
            </a:r>
            <a:r>
              <a:rPr lang="en-US" err="1">
                <a:latin typeface="Aptos Display"/>
                <a:ea typeface="+mn-lt"/>
                <a:cs typeface="+mn-lt"/>
              </a:rPr>
              <a:t>accéder</a:t>
            </a:r>
            <a:r>
              <a:rPr lang="en-US" dirty="0">
                <a:latin typeface="Aptos Display"/>
                <a:ea typeface="+mn-lt"/>
                <a:cs typeface="+mn-lt"/>
              </a:rPr>
              <a:t> à </a:t>
            </a:r>
            <a:r>
              <a:rPr lang="en-US" err="1">
                <a:latin typeface="Aptos Display"/>
                <a:ea typeface="+mn-lt"/>
                <a:cs typeface="+mn-lt"/>
              </a:rPr>
              <a:t>l'interface</a:t>
            </a:r>
            <a:r>
              <a:rPr lang="en-US" dirty="0">
                <a:latin typeface="Aptos Display"/>
                <a:ea typeface="+mn-lt"/>
                <a:cs typeface="+mn-lt"/>
              </a:rPr>
              <a:t> Web.</a:t>
            </a:r>
            <a:endParaRPr lang="en-US"/>
          </a:p>
          <a:p>
            <a:endParaRPr lang="en-US" dirty="0">
              <a:latin typeface="Aptos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ea typeface="+mj-lt"/>
                <a:cs typeface="+mj-lt"/>
              </a:rPr>
              <a:t>Le </a:t>
            </a:r>
            <a:r>
              <a:rPr lang="en-US" sz="3200" err="1">
                <a:ea typeface="+mj-lt"/>
                <a:cs typeface="+mj-lt"/>
              </a:rPr>
              <a:t>cœur</a:t>
            </a:r>
            <a:r>
              <a:rPr lang="en-US" sz="3200" dirty="0">
                <a:ea typeface="+mj-lt"/>
                <a:cs typeface="+mj-lt"/>
              </a:rPr>
              <a:t> du </a:t>
            </a:r>
            <a:r>
              <a:rPr lang="en-US" sz="3200" err="1">
                <a:ea typeface="+mj-lt"/>
                <a:cs typeface="+mj-lt"/>
              </a:rPr>
              <a:t>serveur</a:t>
            </a:r>
            <a:endParaRPr lang="en-US" sz="3200" err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Serveur</a:t>
            </a:r>
            <a:r>
              <a:rPr lang="en-US" dirty="0">
                <a:latin typeface="Aptos Display"/>
                <a:ea typeface="+mn-lt"/>
                <a:cs typeface="+mn-lt"/>
              </a:rPr>
              <a:t> Web : Apache </a:t>
            </a:r>
            <a:r>
              <a:rPr lang="en-US" dirty="0" err="1">
                <a:latin typeface="Aptos Display"/>
                <a:ea typeface="+mn-lt"/>
                <a:cs typeface="+mn-lt"/>
              </a:rPr>
              <a:t>ou</a:t>
            </a:r>
            <a:r>
              <a:rPr lang="en-US" dirty="0">
                <a:latin typeface="Aptos Display"/>
                <a:ea typeface="+mn-lt"/>
                <a:cs typeface="+mn-lt"/>
              </a:rPr>
              <a:t> Nginx. Il doit </a:t>
            </a:r>
            <a:r>
              <a:rPr lang="en-US" dirty="0" err="1">
                <a:latin typeface="Aptos Display"/>
                <a:ea typeface="+mn-lt"/>
                <a:cs typeface="+mn-lt"/>
              </a:rPr>
              <a:t>avoir</a:t>
            </a:r>
            <a:r>
              <a:rPr lang="en-US" dirty="0">
                <a:latin typeface="Aptos Display"/>
                <a:ea typeface="+mn-lt"/>
                <a:cs typeface="+mn-lt"/>
              </a:rPr>
              <a:t> le module de </a:t>
            </a:r>
            <a:r>
              <a:rPr lang="en-US" dirty="0" err="1">
                <a:latin typeface="Aptos Display"/>
                <a:ea typeface="+mn-lt"/>
                <a:cs typeface="+mn-lt"/>
              </a:rPr>
              <a:t>réécriture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d'URL</a:t>
            </a:r>
            <a:r>
              <a:rPr lang="en-US" dirty="0">
                <a:latin typeface="Aptos Display"/>
                <a:ea typeface="+mn-lt"/>
                <a:cs typeface="+mn-lt"/>
              </a:rPr>
              <a:t> (</a:t>
            </a:r>
            <a:r>
              <a:rPr lang="en-US" dirty="0" err="1">
                <a:latin typeface="Aptos Display"/>
              </a:rPr>
              <a:t>mod_rewrite</a:t>
            </a:r>
            <a:r>
              <a:rPr lang="en-US" dirty="0">
                <a:latin typeface="Aptos Display"/>
                <a:ea typeface="+mn-lt"/>
                <a:cs typeface="+mn-lt"/>
              </a:rPr>
              <a:t>) </a:t>
            </a:r>
            <a:r>
              <a:rPr lang="en-US" dirty="0" err="1">
                <a:latin typeface="Aptos Display"/>
                <a:ea typeface="+mn-lt"/>
                <a:cs typeface="+mn-lt"/>
              </a:rPr>
              <a:t>activé</a:t>
            </a:r>
            <a:r>
              <a:rPr lang="en-US" dirty="0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latin typeface="Aptos Display"/>
                <a:ea typeface="+mn-lt"/>
                <a:cs typeface="+mn-lt"/>
              </a:rPr>
              <a:t> Base de données : MariaDB </a:t>
            </a:r>
            <a:r>
              <a:rPr lang="en-US" err="1">
                <a:latin typeface="Aptos Display"/>
                <a:ea typeface="+mn-lt"/>
                <a:cs typeface="+mn-lt"/>
              </a:rPr>
              <a:t>ou</a:t>
            </a:r>
            <a:r>
              <a:rPr lang="en-US" dirty="0">
                <a:latin typeface="Aptos Display"/>
                <a:ea typeface="+mn-lt"/>
                <a:cs typeface="+mn-lt"/>
              </a:rPr>
              <a:t> MySQL. </a:t>
            </a:r>
            <a:endParaRPr lang="en-US" dirty="0">
              <a:latin typeface="Aptos Display"/>
            </a:endParaRPr>
          </a:p>
          <a:p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Langage</a:t>
            </a:r>
            <a:r>
              <a:rPr lang="en-US" dirty="0">
                <a:latin typeface="Aptos Display"/>
                <a:ea typeface="+mn-lt"/>
                <a:cs typeface="+mn-lt"/>
              </a:rPr>
              <a:t> de </a:t>
            </a:r>
            <a:r>
              <a:rPr lang="en-US" dirty="0" err="1">
                <a:latin typeface="Aptos Display"/>
                <a:ea typeface="+mn-lt"/>
                <a:cs typeface="+mn-lt"/>
              </a:rPr>
              <a:t>programmation</a:t>
            </a:r>
            <a:r>
              <a:rPr lang="en-US" dirty="0">
                <a:latin typeface="Aptos Display"/>
                <a:ea typeface="+mn-lt"/>
                <a:cs typeface="+mn-lt"/>
              </a:rPr>
              <a:t> : PHP car Snipe-IT </a:t>
            </a:r>
            <a:r>
              <a:rPr lang="en-US" dirty="0" err="1">
                <a:latin typeface="Aptos Display"/>
                <a:ea typeface="+mn-lt"/>
                <a:cs typeface="+mn-lt"/>
              </a:rPr>
              <a:t>requiert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généralement</a:t>
            </a:r>
            <a:r>
              <a:rPr lang="en-US" dirty="0">
                <a:latin typeface="Aptos Display"/>
                <a:ea typeface="+mn-lt"/>
                <a:cs typeface="+mn-lt"/>
              </a:rPr>
              <a:t> PHP 8.1 </a:t>
            </a:r>
            <a:r>
              <a:rPr lang="en-US" dirty="0" err="1">
                <a:latin typeface="Aptos Display"/>
                <a:ea typeface="+mn-lt"/>
                <a:cs typeface="+mn-lt"/>
              </a:rPr>
              <a:t>ou</a:t>
            </a:r>
            <a:r>
              <a:rPr lang="en-US" dirty="0">
                <a:latin typeface="Aptos Display"/>
                <a:ea typeface="+mn-lt"/>
                <a:cs typeface="+mn-lt"/>
              </a:rPr>
              <a:t> supérieur pour les versions </a:t>
            </a:r>
            <a:r>
              <a:rPr lang="en-US" dirty="0" err="1">
                <a:latin typeface="Aptos Display"/>
                <a:ea typeface="+mn-lt"/>
                <a:cs typeface="+mn-lt"/>
              </a:rPr>
              <a:t>récentes</a:t>
            </a:r>
            <a:r>
              <a:rPr lang="en-US" dirty="0">
                <a:latin typeface="Aptos Display"/>
                <a:ea typeface="+mn-lt"/>
                <a:cs typeface="+mn-lt"/>
              </a:rPr>
              <a:t>.</a:t>
            </a:r>
            <a:endParaRPr lang="en-US" dirty="0">
              <a:latin typeface="Aptos Display"/>
            </a:endParaRPr>
          </a:p>
          <a:p>
            <a:endParaRPr lang="en-US" dirty="0">
              <a:latin typeface="Aptos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ea typeface="+mj-lt"/>
                <a:cs typeface="+mj-lt"/>
              </a:rPr>
              <a:t>Extensions PHP </a:t>
            </a:r>
            <a:r>
              <a:rPr lang="en-US" sz="3200" dirty="0" err="1">
                <a:ea typeface="+mj-lt"/>
                <a:cs typeface="+mj-lt"/>
              </a:rPr>
              <a:t>obligatoires</a:t>
            </a:r>
            <a:endParaRPr lang="en-US" sz="3200" dirty="0" err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err="1">
                <a:latin typeface="Aptos Display"/>
              </a:rPr>
              <a:t>php</a:t>
            </a:r>
            <a:r>
              <a:rPr lang="en-US" b="1" dirty="0">
                <a:latin typeface="Aptos Display"/>
              </a:rPr>
              <a:t>-curl</a:t>
            </a:r>
            <a:r>
              <a:rPr lang="en-US" dirty="0">
                <a:latin typeface="Aptos Display"/>
                <a:ea typeface="+mn-lt"/>
                <a:cs typeface="+mn-lt"/>
              </a:rPr>
              <a:t> (pour les </a:t>
            </a:r>
            <a:r>
              <a:rPr lang="en-US" err="1">
                <a:latin typeface="Aptos Display"/>
                <a:ea typeface="+mn-lt"/>
                <a:cs typeface="+mn-lt"/>
              </a:rPr>
              <a:t>requêtes</a:t>
            </a:r>
            <a:r>
              <a:rPr lang="en-US" dirty="0">
                <a:latin typeface="Aptos Display"/>
                <a:ea typeface="+mn-lt"/>
                <a:cs typeface="+mn-lt"/>
              </a:rPr>
              <a:t> externes)</a:t>
            </a:r>
            <a:endParaRPr lang="en-US" dirty="0">
              <a:latin typeface="Aptos Display"/>
            </a:endParaRPr>
          </a:p>
          <a:p>
            <a:r>
              <a:rPr lang="en-US" b="1" dirty="0" err="1">
                <a:latin typeface="Aptos Display"/>
              </a:rPr>
              <a:t>php-mysql</a:t>
            </a:r>
            <a:r>
              <a:rPr lang="en-US" dirty="0">
                <a:latin typeface="Aptos Display"/>
                <a:ea typeface="+mn-lt"/>
                <a:cs typeface="+mn-lt"/>
              </a:rPr>
              <a:t> (pour </a:t>
            </a:r>
            <a:r>
              <a:rPr lang="en-US" dirty="0" err="1">
                <a:latin typeface="Aptos Display"/>
                <a:ea typeface="+mn-lt"/>
                <a:cs typeface="+mn-lt"/>
              </a:rPr>
              <a:t>parler</a:t>
            </a:r>
            <a:r>
              <a:rPr lang="en-US" dirty="0">
                <a:latin typeface="Aptos Display"/>
                <a:ea typeface="+mn-lt"/>
                <a:cs typeface="+mn-lt"/>
              </a:rPr>
              <a:t> à MariaDB)</a:t>
            </a:r>
            <a:endParaRPr lang="en-US" dirty="0">
              <a:latin typeface="Aptos Display"/>
            </a:endParaRPr>
          </a:p>
          <a:p>
            <a:r>
              <a:rPr lang="en-US" b="1" dirty="0" err="1">
                <a:latin typeface="Aptos Display"/>
              </a:rPr>
              <a:t>php-gd</a:t>
            </a:r>
            <a:r>
              <a:rPr lang="en-US" b="1" dirty="0">
                <a:latin typeface="Aptos Display"/>
                <a:ea typeface="+mn-lt"/>
                <a:cs typeface="+mn-lt"/>
              </a:rPr>
              <a:t> et </a:t>
            </a:r>
            <a:r>
              <a:rPr lang="en-US" b="1" dirty="0" err="1">
                <a:latin typeface="Aptos Display"/>
              </a:rPr>
              <a:t>php-imagick</a:t>
            </a:r>
            <a:r>
              <a:rPr lang="en-US" dirty="0">
                <a:latin typeface="Aptos Display"/>
                <a:ea typeface="+mn-lt"/>
                <a:cs typeface="+mn-lt"/>
              </a:rPr>
              <a:t> (pour le </a:t>
            </a:r>
            <a:r>
              <a:rPr lang="en-US" dirty="0" err="1">
                <a:latin typeface="Aptos Display"/>
                <a:ea typeface="+mn-lt"/>
                <a:cs typeface="+mn-lt"/>
              </a:rPr>
              <a:t>traitement</a:t>
            </a:r>
            <a:r>
              <a:rPr lang="en-US" dirty="0">
                <a:latin typeface="Aptos Display"/>
                <a:ea typeface="+mn-lt"/>
                <a:cs typeface="+mn-lt"/>
              </a:rPr>
              <a:t> des images et des QR codes)</a:t>
            </a:r>
            <a:endParaRPr lang="en-US" dirty="0">
              <a:latin typeface="Aptos Display"/>
            </a:endParaRPr>
          </a:p>
          <a:p>
            <a:r>
              <a:rPr lang="en-US" b="1" dirty="0" err="1">
                <a:latin typeface="Aptos Display"/>
              </a:rPr>
              <a:t>php-mbstring</a:t>
            </a:r>
            <a:r>
              <a:rPr lang="en-US" dirty="0">
                <a:latin typeface="Aptos Display"/>
                <a:ea typeface="+mn-lt"/>
                <a:cs typeface="+mn-lt"/>
              </a:rPr>
              <a:t> (pour la gestion des </a:t>
            </a:r>
            <a:r>
              <a:rPr lang="en-US" dirty="0" err="1">
                <a:latin typeface="Aptos Display"/>
                <a:ea typeface="+mn-lt"/>
                <a:cs typeface="+mn-lt"/>
              </a:rPr>
              <a:t>caractères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spéciaux</a:t>
            </a:r>
            <a:r>
              <a:rPr lang="en-US" dirty="0">
                <a:latin typeface="Aptos Display"/>
                <a:ea typeface="+mn-lt"/>
                <a:cs typeface="+mn-lt"/>
              </a:rPr>
              <a:t>)</a:t>
            </a:r>
            <a:endParaRPr lang="en-US" dirty="0">
              <a:latin typeface="Aptos Display"/>
            </a:endParaRPr>
          </a:p>
          <a:p>
            <a:r>
              <a:rPr lang="en-US" b="1" dirty="0" err="1">
                <a:latin typeface="Aptos Display"/>
              </a:rPr>
              <a:t>php-bcmath</a:t>
            </a:r>
            <a:r>
              <a:rPr lang="en-US" b="1" dirty="0">
                <a:latin typeface="Aptos Display"/>
                <a:ea typeface="+mn-lt"/>
                <a:cs typeface="+mn-lt"/>
              </a:rPr>
              <a:t> et </a:t>
            </a:r>
            <a:r>
              <a:rPr lang="en-US" b="1" dirty="0" err="1">
                <a:latin typeface="Aptos Display"/>
              </a:rPr>
              <a:t>php</a:t>
            </a:r>
            <a:r>
              <a:rPr lang="en-US" b="1" dirty="0">
                <a:latin typeface="Aptos Display"/>
              </a:rPr>
              <a:t>-xml</a:t>
            </a:r>
            <a:r>
              <a:rPr lang="en-US" dirty="0">
                <a:latin typeface="Aptos Display"/>
                <a:ea typeface="+mn-lt"/>
                <a:cs typeface="+mn-lt"/>
              </a:rPr>
              <a:t> (pour le </a:t>
            </a:r>
            <a:r>
              <a:rPr lang="en-US" dirty="0" err="1">
                <a:latin typeface="Aptos Display"/>
                <a:ea typeface="+mn-lt"/>
                <a:cs typeface="+mn-lt"/>
              </a:rPr>
              <a:t>traitement</a:t>
            </a:r>
            <a:r>
              <a:rPr lang="en-US" dirty="0">
                <a:latin typeface="Aptos Display"/>
                <a:ea typeface="+mn-lt"/>
                <a:cs typeface="+mn-lt"/>
              </a:rPr>
              <a:t> de données)</a:t>
            </a:r>
            <a:endParaRPr lang="en-US" dirty="0">
              <a:latin typeface="Aptos Display"/>
            </a:endParaRPr>
          </a:p>
          <a:p>
            <a:r>
              <a:rPr lang="en-US" b="1" dirty="0" err="1">
                <a:latin typeface="Aptos Display"/>
              </a:rPr>
              <a:t>php</a:t>
            </a:r>
            <a:r>
              <a:rPr lang="en-US" b="1" dirty="0">
                <a:latin typeface="Aptos Display"/>
              </a:rPr>
              <a:t>-zip</a:t>
            </a:r>
            <a:r>
              <a:rPr lang="en-US" dirty="0">
                <a:latin typeface="Aptos Display"/>
                <a:ea typeface="+mn-lt"/>
                <a:cs typeface="+mn-lt"/>
              </a:rPr>
              <a:t> (pour </a:t>
            </a:r>
            <a:r>
              <a:rPr lang="en-US" dirty="0" err="1">
                <a:latin typeface="Aptos Display"/>
                <a:ea typeface="+mn-lt"/>
                <a:cs typeface="+mn-lt"/>
              </a:rPr>
              <a:t>compresser</a:t>
            </a:r>
            <a:r>
              <a:rPr lang="en-US" dirty="0">
                <a:latin typeface="Aptos Display"/>
                <a:ea typeface="+mn-lt"/>
                <a:cs typeface="+mn-lt"/>
              </a:rPr>
              <a:t>/</a:t>
            </a:r>
            <a:r>
              <a:rPr lang="en-US" dirty="0" err="1">
                <a:latin typeface="Aptos Display"/>
                <a:ea typeface="+mn-lt"/>
                <a:cs typeface="+mn-lt"/>
              </a:rPr>
              <a:t>décompresser</a:t>
            </a:r>
            <a:r>
              <a:rPr lang="en-US" dirty="0">
                <a:latin typeface="Aptos Display"/>
                <a:ea typeface="+mn-lt"/>
                <a:cs typeface="+mn-lt"/>
              </a:rPr>
              <a:t> des </a:t>
            </a:r>
            <a:r>
              <a:rPr lang="en-US" dirty="0" err="1">
                <a:latin typeface="Aptos Display"/>
                <a:ea typeface="+mn-lt"/>
                <a:cs typeface="+mn-lt"/>
              </a:rPr>
              <a:t>fichiers</a:t>
            </a:r>
            <a:r>
              <a:rPr lang="en-US" dirty="0">
                <a:latin typeface="Aptos Display"/>
                <a:ea typeface="+mn-lt"/>
                <a:cs typeface="+mn-lt"/>
              </a:rPr>
              <a:t>)</a:t>
            </a:r>
            <a:endParaRPr lang="en-US" dirty="0">
              <a:latin typeface="Aptos Display"/>
            </a:endParaRPr>
          </a:p>
          <a:p>
            <a:r>
              <a:rPr lang="en-US" b="1" err="1">
                <a:latin typeface="Aptos Display"/>
              </a:rPr>
              <a:t>php-ldap</a:t>
            </a:r>
            <a:r>
              <a:rPr lang="en-US" dirty="0">
                <a:latin typeface="Aptos Display"/>
                <a:ea typeface="+mn-lt"/>
                <a:cs typeface="+mn-lt"/>
              </a:rPr>
              <a:t> (</a:t>
            </a:r>
            <a:r>
              <a:rPr lang="en-US" err="1">
                <a:latin typeface="Aptos Display"/>
                <a:ea typeface="+mn-lt"/>
                <a:cs typeface="+mn-lt"/>
              </a:rPr>
              <a:t>si</a:t>
            </a:r>
            <a:r>
              <a:rPr lang="en-US" dirty="0">
                <a:latin typeface="Aptos Display"/>
                <a:ea typeface="+mn-lt"/>
                <a:cs typeface="+mn-lt"/>
              </a:rPr>
              <a:t> vous </a:t>
            </a:r>
            <a:r>
              <a:rPr lang="en-US" err="1">
                <a:latin typeface="Aptos Display"/>
                <a:ea typeface="+mn-lt"/>
                <a:cs typeface="+mn-lt"/>
              </a:rPr>
              <a:t>souhaitez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lier</a:t>
            </a:r>
            <a:r>
              <a:rPr lang="en-US" dirty="0">
                <a:latin typeface="Aptos Display"/>
                <a:ea typeface="+mn-lt"/>
                <a:cs typeface="+mn-lt"/>
              </a:rPr>
              <a:t> Snipe-IT à un </a:t>
            </a:r>
            <a:r>
              <a:rPr lang="en-US" err="1">
                <a:latin typeface="Aptos Display"/>
                <a:ea typeface="+mn-lt"/>
                <a:cs typeface="+mn-lt"/>
              </a:rPr>
              <a:t>annuaire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d'entreprise</a:t>
            </a:r>
            <a:r>
              <a:rPr lang="en-US" dirty="0">
                <a:latin typeface="Aptos Display"/>
                <a:ea typeface="+mn-lt"/>
                <a:cs typeface="+mn-lt"/>
              </a:rPr>
              <a:t> plus tard)</a:t>
            </a:r>
            <a:endParaRPr lang="en-US" dirty="0">
              <a:latin typeface="Aptos Display"/>
            </a:endParaRPr>
          </a:p>
          <a:p>
            <a:r>
              <a:rPr lang="en-US" b="1" dirty="0" err="1">
                <a:latin typeface="Aptos Display"/>
              </a:rPr>
              <a:t>php-intl</a:t>
            </a:r>
            <a:r>
              <a:rPr lang="en-US" dirty="0">
                <a:latin typeface="Aptos Display"/>
                <a:ea typeface="+mn-lt"/>
                <a:cs typeface="+mn-lt"/>
              </a:rPr>
              <a:t> (pour </a:t>
            </a:r>
            <a:r>
              <a:rPr lang="en-US" dirty="0" err="1">
                <a:latin typeface="Aptos Display"/>
                <a:ea typeface="+mn-lt"/>
                <a:cs typeface="+mn-lt"/>
              </a:rPr>
              <a:t>l'internationalisation</a:t>
            </a:r>
            <a:r>
              <a:rPr lang="en-US" dirty="0">
                <a:latin typeface="Aptos Display"/>
                <a:ea typeface="+mn-lt"/>
                <a:cs typeface="+mn-lt"/>
              </a:rPr>
              <a:t> et les </a:t>
            </a:r>
            <a:r>
              <a:rPr lang="en-US" dirty="0" err="1">
                <a:latin typeface="Aptos Display"/>
                <a:ea typeface="+mn-lt"/>
                <a:cs typeface="+mn-lt"/>
              </a:rPr>
              <a:t>traductions</a:t>
            </a:r>
            <a:r>
              <a:rPr lang="en-US" dirty="0">
                <a:latin typeface="Aptos Display"/>
                <a:ea typeface="+mn-lt"/>
                <a:cs typeface="+mn-lt"/>
              </a:rPr>
              <a:t>)</a:t>
            </a:r>
            <a:endParaRPr lang="en-US" dirty="0">
              <a:latin typeface="Aptos Display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err="1">
                <a:ea typeface="+mj-lt"/>
                <a:cs typeface="+mj-lt"/>
              </a:rPr>
              <a:t>Outils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système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supplémentaires</a:t>
            </a:r>
            <a:endParaRPr lang="en-US" sz="3200" err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ptos Display"/>
                <a:ea typeface="+mn-lt"/>
                <a:cs typeface="+mn-lt"/>
              </a:rPr>
              <a:t>Git :</a:t>
            </a:r>
            <a:r>
              <a:rPr lang="en-US" dirty="0">
                <a:latin typeface="Aptos Display"/>
                <a:ea typeface="+mn-lt"/>
                <a:cs typeface="+mn-lt"/>
              </a:rPr>
              <a:t> Indispensable pour cloner  le code source </a:t>
            </a:r>
            <a:r>
              <a:rPr lang="en-US" dirty="0" err="1">
                <a:latin typeface="Aptos Display"/>
                <a:ea typeface="+mn-lt"/>
                <a:cs typeface="+mn-lt"/>
              </a:rPr>
              <a:t>officiel</a:t>
            </a:r>
            <a:r>
              <a:rPr lang="en-US" dirty="0">
                <a:latin typeface="Aptos Display"/>
                <a:ea typeface="+mn-lt"/>
                <a:cs typeface="+mn-lt"/>
              </a:rPr>
              <a:t> de Snipe-IT </a:t>
            </a:r>
            <a:r>
              <a:rPr lang="en-US" dirty="0" err="1">
                <a:latin typeface="Aptos Display"/>
                <a:ea typeface="+mn-lt"/>
                <a:cs typeface="+mn-lt"/>
              </a:rPr>
              <a:t>depuis</a:t>
            </a:r>
            <a:r>
              <a:rPr lang="en-US" dirty="0">
                <a:latin typeface="Aptos Display"/>
                <a:ea typeface="+mn-lt"/>
                <a:cs typeface="+mn-lt"/>
              </a:rPr>
              <a:t> GitHub.</a:t>
            </a:r>
            <a:endParaRPr lang="en-US" dirty="0">
              <a:latin typeface="Aptos Display"/>
            </a:endParaRPr>
          </a:p>
          <a:p>
            <a:pPr marL="0" indent="0">
              <a:buNone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latin typeface="Aptos Display"/>
                <a:ea typeface="+mn-lt"/>
                <a:cs typeface="+mn-lt"/>
              </a:rPr>
              <a:t>Composer :</a:t>
            </a:r>
            <a:r>
              <a:rPr lang="en-US" dirty="0">
                <a:latin typeface="Aptos Display"/>
                <a:ea typeface="+mn-lt"/>
                <a:cs typeface="+mn-lt"/>
              </a:rPr>
              <a:t> Le </a:t>
            </a:r>
            <a:r>
              <a:rPr lang="en-US" dirty="0" err="1">
                <a:latin typeface="Aptos Display"/>
                <a:ea typeface="+mn-lt"/>
                <a:cs typeface="+mn-lt"/>
              </a:rPr>
              <a:t>gestionnaire</a:t>
            </a:r>
            <a:r>
              <a:rPr lang="en-US" dirty="0">
                <a:latin typeface="Aptos Display"/>
                <a:ea typeface="+mn-lt"/>
                <a:cs typeface="+mn-lt"/>
              </a:rPr>
              <a:t> de </a:t>
            </a:r>
            <a:r>
              <a:rPr lang="en-US" dirty="0" err="1">
                <a:latin typeface="Aptos Display"/>
                <a:ea typeface="+mn-lt"/>
                <a:cs typeface="+mn-lt"/>
              </a:rPr>
              <a:t>paquets</a:t>
            </a:r>
            <a:r>
              <a:rPr lang="en-US" dirty="0">
                <a:latin typeface="Aptos Display"/>
                <a:ea typeface="+mn-lt"/>
                <a:cs typeface="+mn-lt"/>
              </a:rPr>
              <a:t> de PHP. Il </a:t>
            </a:r>
            <a:r>
              <a:rPr lang="en-US" dirty="0" err="1">
                <a:latin typeface="Aptos Display"/>
                <a:ea typeface="+mn-lt"/>
                <a:cs typeface="+mn-lt"/>
              </a:rPr>
              <a:t>télécharge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automatiquement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tous</a:t>
            </a:r>
            <a:r>
              <a:rPr lang="en-US" dirty="0">
                <a:latin typeface="Aptos Display"/>
                <a:ea typeface="+mn-lt"/>
                <a:cs typeface="+mn-lt"/>
              </a:rPr>
              <a:t> les petits bouts de code </a:t>
            </a:r>
            <a:r>
              <a:rPr lang="en-US" dirty="0" err="1">
                <a:latin typeface="Aptos Display"/>
                <a:ea typeface="+mn-lt"/>
                <a:cs typeface="+mn-lt"/>
              </a:rPr>
              <a:t>secondaires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dont</a:t>
            </a:r>
            <a:r>
              <a:rPr lang="en-US" dirty="0">
                <a:latin typeface="Aptos Display"/>
                <a:ea typeface="+mn-lt"/>
                <a:cs typeface="+mn-lt"/>
              </a:rPr>
              <a:t> Snipe-IT a </a:t>
            </a:r>
            <a:r>
              <a:rPr lang="en-US" dirty="0" err="1">
                <a:latin typeface="Aptos Display"/>
                <a:ea typeface="+mn-lt"/>
                <a:cs typeface="+mn-lt"/>
              </a:rPr>
              <a:t>besoin</a:t>
            </a:r>
            <a:r>
              <a:rPr lang="en-US" dirty="0">
                <a:latin typeface="Aptos Display"/>
                <a:ea typeface="+mn-lt"/>
                <a:cs typeface="+mn-lt"/>
              </a:rPr>
              <a:t> pour </a:t>
            </a:r>
            <a:r>
              <a:rPr lang="en-US" dirty="0" err="1">
                <a:latin typeface="Aptos Display"/>
                <a:ea typeface="+mn-lt"/>
                <a:cs typeface="+mn-lt"/>
              </a:rPr>
              <a:t>fonctionner</a:t>
            </a:r>
            <a:r>
              <a:rPr lang="en-US" dirty="0">
                <a:latin typeface="Aptos Display"/>
                <a:ea typeface="+mn-lt"/>
                <a:cs typeface="+mn-lt"/>
              </a:rPr>
              <a:t>.</a:t>
            </a:r>
            <a:endParaRPr lang="en-US" dirty="0">
              <a:latin typeface="Aptos Display"/>
            </a:endParaRPr>
          </a:p>
          <a:p>
            <a:pPr marL="0" indent="0">
              <a:buNone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latin typeface="Aptos Display"/>
                <a:ea typeface="+mn-lt"/>
                <a:cs typeface="+mn-lt"/>
              </a:rPr>
              <a:t>Curl &amp; Unzip :</a:t>
            </a:r>
            <a:r>
              <a:rPr lang="en-US" dirty="0">
                <a:latin typeface="Aptos Display"/>
                <a:ea typeface="+mn-lt"/>
                <a:cs typeface="+mn-lt"/>
              </a:rPr>
              <a:t> Des </a:t>
            </a:r>
            <a:r>
              <a:rPr lang="en-US" dirty="0" err="1">
                <a:latin typeface="Aptos Display"/>
                <a:ea typeface="+mn-lt"/>
                <a:cs typeface="+mn-lt"/>
              </a:rPr>
              <a:t>utilitaires</a:t>
            </a:r>
            <a:r>
              <a:rPr lang="en-US" dirty="0">
                <a:latin typeface="Aptos Display"/>
                <a:ea typeface="+mn-lt"/>
                <a:cs typeface="+mn-lt"/>
              </a:rPr>
              <a:t> de base pour </a:t>
            </a:r>
            <a:r>
              <a:rPr lang="en-US" dirty="0" err="1">
                <a:latin typeface="Aptos Display"/>
                <a:ea typeface="+mn-lt"/>
                <a:cs typeface="+mn-lt"/>
              </a:rPr>
              <a:t>télécharger</a:t>
            </a:r>
            <a:r>
              <a:rPr lang="en-US" dirty="0">
                <a:latin typeface="Aptos Display"/>
                <a:ea typeface="+mn-lt"/>
                <a:cs typeface="+mn-lt"/>
              </a:rPr>
              <a:t> et </a:t>
            </a:r>
            <a:r>
              <a:rPr lang="en-US" dirty="0" err="1">
                <a:latin typeface="Aptos Display"/>
                <a:ea typeface="+mn-lt"/>
                <a:cs typeface="+mn-lt"/>
              </a:rPr>
              <a:t>extraire</a:t>
            </a:r>
            <a:r>
              <a:rPr lang="en-US" dirty="0">
                <a:latin typeface="Aptos Display"/>
                <a:ea typeface="+mn-lt"/>
                <a:cs typeface="+mn-lt"/>
              </a:rPr>
              <a:t> des </a:t>
            </a:r>
            <a:r>
              <a:rPr lang="en-US" dirty="0" err="1">
                <a:latin typeface="Aptos Display"/>
                <a:ea typeface="+mn-lt"/>
                <a:cs typeface="+mn-lt"/>
              </a:rPr>
              <a:t>fichiers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en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  <a:r>
              <a:rPr lang="en-US" dirty="0" err="1">
                <a:latin typeface="Aptos Display"/>
                <a:ea typeface="+mn-lt"/>
                <a:cs typeface="+mn-lt"/>
              </a:rPr>
              <a:t>ligne</a:t>
            </a:r>
            <a:r>
              <a:rPr lang="en-US" dirty="0">
                <a:latin typeface="Aptos Display"/>
                <a:ea typeface="+mn-lt"/>
                <a:cs typeface="+mn-lt"/>
              </a:rPr>
              <a:t> de </a:t>
            </a:r>
            <a:r>
              <a:rPr lang="en-US" dirty="0" err="1">
                <a:latin typeface="Aptos Display"/>
                <a:ea typeface="+mn-lt"/>
                <a:cs typeface="+mn-lt"/>
              </a:rPr>
              <a:t>commande</a:t>
            </a:r>
            <a:r>
              <a:rPr lang="en-US" dirty="0">
                <a:latin typeface="Aptos Display"/>
                <a:ea typeface="+mn-lt"/>
                <a:cs typeface="+mn-lt"/>
              </a:rPr>
              <a:t>.</a:t>
            </a:r>
            <a:endParaRPr lang="en-US" dirty="0">
              <a:latin typeface="Aptos Display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>
                <a:ea typeface="+mj-lt"/>
                <a:cs typeface="+mj-lt"/>
              </a:rPr>
              <a:t>Prérequis</a:t>
            </a:r>
            <a:r>
              <a:rPr lang="en-US" sz="3200" dirty="0">
                <a:ea typeface="+mj-lt"/>
                <a:cs typeface="+mj-lt"/>
              </a:rPr>
              <a:t> et </a:t>
            </a:r>
            <a:r>
              <a:rPr lang="en-US" sz="3200" dirty="0" err="1">
                <a:ea typeface="+mj-lt"/>
                <a:cs typeface="+mj-lt"/>
              </a:rPr>
              <a:t>Serveur</a:t>
            </a:r>
            <a:r>
              <a:rPr lang="en-US" sz="3200" dirty="0">
                <a:ea typeface="+mj-lt"/>
                <a:cs typeface="+mj-lt"/>
              </a:rPr>
              <a:t> Web (script)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Display"/>
                <a:ea typeface="+mn-lt"/>
                <a:cs typeface="+mn-lt"/>
              </a:rPr>
              <a:t>Mise à jour du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système</a:t>
            </a:r>
            <a:r>
              <a:rPr lang="en-US" sz="2400" dirty="0">
                <a:latin typeface="Aptos Display"/>
                <a:ea typeface="+mn-lt"/>
                <a:cs typeface="+mn-lt"/>
              </a:rPr>
              <a:t> et installation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d'Apache</a:t>
            </a:r>
            <a:r>
              <a:rPr lang="en-US" sz="2400" dirty="0">
                <a:latin typeface="Aptos Display"/>
                <a:ea typeface="+mn-lt"/>
                <a:cs typeface="+mn-lt"/>
              </a:rPr>
              <a:t>, de la base de données (MariaDB), de PHP, des extensions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requises</a:t>
            </a:r>
            <a:r>
              <a:rPr lang="en-US" sz="2400" dirty="0">
                <a:latin typeface="Aptos Display"/>
                <a:ea typeface="+mn-lt"/>
                <a:cs typeface="+mn-lt"/>
              </a:rPr>
              <a:t> et de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l'outil</a:t>
            </a:r>
            <a:r>
              <a:rPr lang="en-US" sz="2400" dirty="0">
                <a:latin typeface="Aptos Display"/>
                <a:ea typeface="+mn-lt"/>
                <a:cs typeface="+mn-lt"/>
              </a:rPr>
              <a:t> </a:t>
            </a:r>
            <a:r>
              <a:rPr lang="en-US" sz="2400" dirty="0">
                <a:latin typeface="Aptos Display"/>
              </a:rPr>
              <a:t>curl :</a:t>
            </a:r>
            <a:endParaRPr lang="en-US" sz="2400" dirty="0">
              <a:latin typeface="Aptos Display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/>
            </a:endParaRPr>
          </a:p>
          <a:p>
            <a:pPr>
              <a:buNone/>
            </a:pPr>
            <a:r>
              <a:rPr lang="en-US" sz="2000" dirty="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apt update &amp;&amp; </a:t>
            </a:r>
            <a:r>
              <a:rPr lang="en-US" sz="2000" dirty="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apt upgrade -y</a:t>
            </a:r>
            <a:endParaRPr lang="en-US" dirty="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apt install -y apache2 </a:t>
            </a:r>
            <a:r>
              <a:rPr lang="en-US" sz="2000" err="1">
                <a:latin typeface="Aptos Display"/>
                <a:ea typeface="+mn-lt"/>
                <a:cs typeface="+mn-lt"/>
              </a:rPr>
              <a:t>mariadb</a:t>
            </a:r>
            <a:r>
              <a:rPr lang="en-US" sz="2000" dirty="0">
                <a:latin typeface="Aptos Display"/>
                <a:ea typeface="+mn-lt"/>
                <a:cs typeface="+mn-lt"/>
              </a:rPr>
              <a:t>-server git unzip </a:t>
            </a:r>
            <a:r>
              <a:rPr lang="en-US" sz="2000" err="1">
                <a:latin typeface="Aptos Display"/>
                <a:ea typeface="+mn-lt"/>
                <a:cs typeface="+mn-lt"/>
              </a:rPr>
              <a:t>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-curl </a:t>
            </a:r>
            <a:r>
              <a:rPr lang="en-US" sz="2000" err="1">
                <a:latin typeface="Aptos Display"/>
                <a:ea typeface="+mn-lt"/>
                <a:cs typeface="+mn-lt"/>
              </a:rPr>
              <a:t>php-mysql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php-gd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php-mbstring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php-bcmath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-common </a:t>
            </a:r>
            <a:r>
              <a:rPr lang="en-US" sz="2000" err="1">
                <a:latin typeface="Aptos Display"/>
                <a:ea typeface="+mn-lt"/>
                <a:cs typeface="+mn-lt"/>
              </a:rPr>
              <a:t>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-xml </a:t>
            </a:r>
            <a:r>
              <a:rPr lang="en-US" sz="2000" err="1">
                <a:latin typeface="Aptos Display"/>
                <a:ea typeface="+mn-lt"/>
                <a:cs typeface="+mn-lt"/>
              </a:rPr>
              <a:t>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-zip </a:t>
            </a:r>
            <a:r>
              <a:rPr lang="en-US" sz="2000" err="1">
                <a:latin typeface="Aptos Display"/>
                <a:ea typeface="+mn-lt"/>
                <a:cs typeface="+mn-lt"/>
              </a:rPr>
              <a:t>php-ldap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php-intl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php-imagick</a:t>
            </a:r>
            <a:r>
              <a:rPr lang="en-US" sz="2000" dirty="0">
                <a:latin typeface="Aptos Display"/>
                <a:ea typeface="+mn-lt"/>
                <a:cs typeface="+mn-lt"/>
              </a:rPr>
              <a:t> curl</a:t>
            </a:r>
            <a:endParaRPr lang="en-US" dirty="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a2enmod rewrite</a:t>
            </a:r>
            <a:endParaRPr lang="en-US" dirty="0">
              <a:latin typeface="Aptos Display"/>
            </a:endParaRPr>
          </a:p>
          <a:p>
            <a:pPr marL="0" indent="0"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systemctl</a:t>
            </a:r>
            <a:r>
              <a:rPr lang="en-US" sz="2000" dirty="0">
                <a:latin typeface="Aptos Display"/>
                <a:ea typeface="+mn-lt"/>
                <a:cs typeface="+mn-lt"/>
              </a:rPr>
              <a:t> restart apache2</a:t>
            </a:r>
            <a:endParaRPr lang="en-US" dirty="0">
              <a:latin typeface="Aptos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err="1">
                <a:ea typeface="+mj-lt"/>
                <a:cs typeface="+mj-lt"/>
              </a:rPr>
              <a:t>Création</a:t>
            </a:r>
            <a:r>
              <a:rPr lang="en-US" sz="3200" dirty="0">
                <a:ea typeface="+mj-lt"/>
                <a:cs typeface="+mj-lt"/>
              </a:rPr>
              <a:t> de la Base de données (script)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err="1">
                <a:latin typeface="Aptos Display"/>
                <a:ea typeface="+mn-lt"/>
                <a:cs typeface="+mn-lt"/>
              </a:rPr>
              <a:t>Connexion</a:t>
            </a:r>
            <a:r>
              <a:rPr lang="en-US" sz="2400" dirty="0">
                <a:latin typeface="Aptos Display"/>
                <a:ea typeface="+mn-lt"/>
                <a:cs typeface="+mn-lt"/>
              </a:rPr>
              <a:t> à MariaDB :</a:t>
            </a:r>
            <a:endParaRPr lang="en-US" sz="2400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latin typeface="Aptos Display"/>
            </a:endParaRPr>
          </a:p>
          <a:p>
            <a:pPr marL="0" indent="0">
              <a:buNone/>
            </a:pPr>
            <a:r>
              <a:rPr lang="en-US" sz="2000" dirty="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dirty="0" err="1">
                <a:latin typeface="Aptos Display"/>
                <a:ea typeface="+mn-lt"/>
                <a:cs typeface="+mn-lt"/>
              </a:rPr>
              <a:t>mysql</a:t>
            </a:r>
            <a:r>
              <a:rPr lang="en-US" sz="2000" dirty="0">
                <a:latin typeface="Aptos Display"/>
                <a:ea typeface="+mn-lt"/>
                <a:cs typeface="+mn-lt"/>
              </a:rPr>
              <a:t> -u root –p</a:t>
            </a:r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latin typeface="Aptos Display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Une </a:t>
            </a:r>
            <a:r>
              <a:rPr lang="en-US" sz="2000" err="1">
                <a:ea typeface="+mn-lt"/>
                <a:cs typeface="+mn-lt"/>
              </a:rPr>
              <a:t>fois</a:t>
            </a:r>
            <a:r>
              <a:rPr lang="en-US" sz="2000" dirty="0">
                <a:ea typeface="+mn-lt"/>
                <a:cs typeface="+mn-lt"/>
              </a:rPr>
              <a:t> dans </a:t>
            </a:r>
            <a:r>
              <a:rPr lang="en-US" sz="2000" err="1">
                <a:ea typeface="+mn-lt"/>
                <a:cs typeface="+mn-lt"/>
              </a:rPr>
              <a:t>l'invite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err="1">
                <a:ea typeface="+mn-lt"/>
                <a:cs typeface="+mn-lt"/>
              </a:rPr>
              <a:t>commande</a:t>
            </a:r>
            <a:r>
              <a:rPr lang="en-US" sz="2000" dirty="0">
                <a:ea typeface="+mn-lt"/>
                <a:cs typeface="+mn-lt"/>
              </a:rPr>
              <a:t> SQL, </a:t>
            </a:r>
            <a:r>
              <a:rPr lang="en-US" sz="2000" err="1">
                <a:ea typeface="+mn-lt"/>
                <a:cs typeface="+mn-lt"/>
              </a:rPr>
              <a:t>création</a:t>
            </a:r>
            <a:r>
              <a:rPr lang="en-US" sz="2000" dirty="0">
                <a:ea typeface="+mn-lt"/>
                <a:cs typeface="+mn-lt"/>
              </a:rPr>
              <a:t> de la base et de </a:t>
            </a:r>
            <a:r>
              <a:rPr lang="en-US" sz="2000" err="1">
                <a:ea typeface="+mn-lt"/>
                <a:cs typeface="+mn-lt"/>
              </a:rPr>
              <a:t>l'utilisateur</a:t>
            </a:r>
            <a:r>
              <a:rPr lang="en-US" sz="2000" dirty="0">
                <a:ea typeface="+mn-lt"/>
                <a:cs typeface="+mn-lt"/>
              </a:rPr>
              <a:t> avec un mot de passe :</a:t>
            </a: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CREATE DATABASE </a:t>
            </a:r>
            <a:r>
              <a:rPr lang="en-US" sz="2000" err="1">
                <a:ea typeface="+mn-lt"/>
                <a:cs typeface="+mn-lt"/>
              </a:rPr>
              <a:t>snipeit</a:t>
            </a:r>
            <a:r>
              <a:rPr lang="en-US" sz="2000">
                <a:ea typeface="+mn-lt"/>
                <a:cs typeface="+mn-lt"/>
              </a:rPr>
              <a:t>;</a:t>
            </a:r>
            <a:endParaRPr lang="en-US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CREATE USER '</a:t>
            </a:r>
            <a:r>
              <a:rPr lang="en-US" sz="2000" dirty="0" err="1">
                <a:ea typeface="+mn-lt"/>
                <a:cs typeface="+mn-lt"/>
              </a:rPr>
              <a:t>snipeit_user'@'localhost</a:t>
            </a:r>
            <a:r>
              <a:rPr lang="en-US" sz="2000" dirty="0">
                <a:ea typeface="+mn-lt"/>
                <a:cs typeface="+mn-lt"/>
              </a:rPr>
              <a:t>' IDENTIFIED BY 'snipeit123';</a:t>
            </a:r>
            <a:endParaRPr lang="en-US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GRANT ALL PRIVILEGES ON snipeit.* TO '</a:t>
            </a:r>
            <a:r>
              <a:rPr lang="en-US" sz="2000" dirty="0" err="1">
                <a:ea typeface="+mn-lt"/>
                <a:cs typeface="+mn-lt"/>
              </a:rPr>
              <a:t>snipeit_user'@'localhost</a:t>
            </a:r>
            <a:r>
              <a:rPr lang="en-US" sz="2000" dirty="0">
                <a:ea typeface="+mn-lt"/>
                <a:cs typeface="+mn-lt"/>
              </a:rPr>
              <a:t>';</a:t>
            </a:r>
            <a:endParaRPr lang="en-US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FLUSH PRIVILEGES;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EXIT;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ea typeface="+mj-lt"/>
                <a:cs typeface="+mj-lt"/>
              </a:rPr>
              <a:t>Installation de Composer (script)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err="1">
                <a:latin typeface="Aptos Display"/>
                <a:ea typeface="+mn-lt"/>
                <a:cs typeface="+mn-lt"/>
              </a:rPr>
              <a:t>Téléchargement</a:t>
            </a:r>
            <a:r>
              <a:rPr lang="en-US" sz="2400" dirty="0">
                <a:latin typeface="Aptos Display"/>
                <a:ea typeface="+mn-lt"/>
                <a:cs typeface="+mn-lt"/>
              </a:rPr>
              <a:t> et installation de </a:t>
            </a:r>
            <a:r>
              <a:rPr lang="en-US" sz="2400" err="1">
                <a:latin typeface="Aptos Display"/>
                <a:ea typeface="+mn-lt"/>
                <a:cs typeface="+mn-lt"/>
              </a:rPr>
              <a:t>l'outil</a:t>
            </a:r>
            <a:r>
              <a:rPr lang="en-US" sz="2400" dirty="0">
                <a:latin typeface="Aptos Display"/>
                <a:ea typeface="+mn-lt"/>
                <a:cs typeface="+mn-lt"/>
              </a:rPr>
              <a:t> de gestion des </a:t>
            </a:r>
            <a:r>
              <a:rPr lang="en-US" sz="2400" err="1">
                <a:latin typeface="Aptos Display"/>
                <a:ea typeface="+mn-lt"/>
                <a:cs typeface="+mn-lt"/>
              </a:rPr>
              <a:t>dépendances</a:t>
            </a:r>
            <a:r>
              <a:rPr lang="en-US" sz="2400">
                <a:latin typeface="Aptos Display"/>
                <a:ea typeface="+mn-lt"/>
                <a:cs typeface="+mn-lt"/>
              </a:rPr>
              <a:t> PHP :</a:t>
            </a:r>
            <a:endParaRPr lang="en-US" sz="240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latin typeface="Aptos Display"/>
            </a:endParaRPr>
          </a:p>
          <a:p>
            <a:pPr>
              <a:buNone/>
            </a:pPr>
            <a:r>
              <a:rPr lang="en-US" sz="2000">
                <a:latin typeface="Aptos Display"/>
                <a:ea typeface="+mn-lt"/>
                <a:cs typeface="+mn-lt"/>
              </a:rPr>
              <a:t>cd ~</a:t>
            </a:r>
            <a:endParaRPr lang="en-US" sz="2000">
              <a:latin typeface="Aptos Display"/>
            </a:endParaRPr>
          </a:p>
          <a:p>
            <a:pPr>
              <a:buNone/>
            </a:pPr>
            <a:r>
              <a:rPr lang="en-US" sz="2000" dirty="0">
                <a:latin typeface="Aptos Display"/>
                <a:ea typeface="+mn-lt"/>
                <a:cs typeface="+mn-lt"/>
              </a:rPr>
              <a:t>curl -</a:t>
            </a:r>
            <a:r>
              <a:rPr lang="en-US" sz="2000" err="1">
                <a:latin typeface="Aptos Display"/>
                <a:ea typeface="+mn-lt"/>
                <a:cs typeface="+mn-lt"/>
              </a:rPr>
              <a:t>sS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dirty="0">
                <a:latin typeface="Aptos Display"/>
                <a:ea typeface="+mn-lt"/>
                <a:cs typeface="+mn-lt"/>
                <a:hlinkClick r:id="rId1"/>
              </a:rPr>
              <a:t>https://getcomposer.org/installer</a:t>
            </a:r>
            <a:r>
              <a:rPr lang="en-US" sz="2000" dirty="0">
                <a:latin typeface="Aptos Display"/>
                <a:ea typeface="+mn-lt"/>
                <a:cs typeface="+mn-lt"/>
              </a:rPr>
              <a:t> -o composer-</a:t>
            </a:r>
            <a:r>
              <a:rPr lang="en-US" sz="2000" err="1">
                <a:latin typeface="Aptos Display"/>
                <a:ea typeface="+mn-lt"/>
                <a:cs typeface="+mn-lt"/>
              </a:rPr>
              <a:t>setup.php</a:t>
            </a:r>
            <a:endParaRPr lang="en-US" sz="2000">
              <a:latin typeface="Aptos Display"/>
            </a:endParaRPr>
          </a:p>
          <a:p>
            <a:pPr marL="0" indent="0"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 composer-</a:t>
            </a:r>
            <a:r>
              <a:rPr lang="en-US" sz="2000" err="1">
                <a:latin typeface="Aptos Display"/>
                <a:ea typeface="+mn-lt"/>
                <a:cs typeface="+mn-lt"/>
              </a:rPr>
              <a:t>setup.php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 --install-</a:t>
            </a:r>
            <a:r>
              <a:rPr lang="en-US" sz="2000" err="1">
                <a:latin typeface="Aptos Display"/>
                <a:ea typeface="+mn-lt"/>
                <a:cs typeface="+mn-lt"/>
              </a:rPr>
              <a:t>dir</a:t>
            </a:r>
            <a:r>
              <a:rPr lang="en-US" sz="2000" dirty="0">
                <a:latin typeface="Aptos Display"/>
                <a:ea typeface="+mn-lt"/>
                <a:cs typeface="+mn-lt"/>
              </a:rPr>
              <a:t>=/</a:t>
            </a:r>
            <a:r>
              <a:rPr lang="en-US" sz="2000" err="1">
                <a:latin typeface="Aptos Display"/>
                <a:ea typeface="+mn-lt"/>
                <a:cs typeface="+mn-lt"/>
              </a:rPr>
              <a:t>usr</a:t>
            </a:r>
            <a:r>
              <a:rPr lang="en-US" sz="2000" dirty="0">
                <a:latin typeface="Aptos Display"/>
                <a:ea typeface="+mn-lt"/>
                <a:cs typeface="+mn-lt"/>
              </a:rPr>
              <a:t>/local/bin --filename=composer</a:t>
            </a:r>
            <a:endParaRPr lang="en-US" sz="2000" dirty="0">
              <a:latin typeface="Aptos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err="1">
                <a:ea typeface="+mj-lt"/>
                <a:cs typeface="+mj-lt"/>
              </a:rPr>
              <a:t>Téléchargement</a:t>
            </a:r>
            <a:r>
              <a:rPr lang="en-US" sz="3200" dirty="0">
                <a:ea typeface="+mj-lt"/>
                <a:cs typeface="+mj-lt"/>
              </a:rPr>
              <a:t> et Configuration de Snipe-IT (script)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err="1">
                <a:latin typeface="Aptos Display"/>
                <a:ea typeface="+mn-lt"/>
                <a:cs typeface="+mn-lt"/>
              </a:rPr>
              <a:t>Clonage</a:t>
            </a:r>
            <a:r>
              <a:rPr lang="en-US" sz="2400" dirty="0">
                <a:latin typeface="Aptos Display"/>
                <a:ea typeface="+mn-lt"/>
                <a:cs typeface="+mn-lt"/>
              </a:rPr>
              <a:t> du code source </a:t>
            </a:r>
            <a:r>
              <a:rPr lang="en-US" sz="2400" err="1">
                <a:latin typeface="Aptos Display"/>
                <a:ea typeface="+mn-lt"/>
                <a:cs typeface="+mn-lt"/>
              </a:rPr>
              <a:t>depuis</a:t>
            </a:r>
            <a:r>
              <a:rPr lang="en-US" sz="2400" dirty="0">
                <a:latin typeface="Aptos Display"/>
                <a:ea typeface="+mn-lt"/>
                <a:cs typeface="+mn-lt"/>
              </a:rPr>
              <a:t> GitHub et </a:t>
            </a:r>
            <a:r>
              <a:rPr lang="en-US" sz="2400" err="1">
                <a:latin typeface="Aptos Display"/>
                <a:ea typeface="+mn-lt"/>
                <a:cs typeface="+mn-lt"/>
              </a:rPr>
              <a:t>préparation</a:t>
            </a:r>
            <a:r>
              <a:rPr lang="en-US" sz="2400" dirty="0">
                <a:latin typeface="Aptos Display"/>
                <a:ea typeface="+mn-lt"/>
                <a:cs typeface="+mn-lt"/>
              </a:rPr>
              <a:t> du </a:t>
            </a:r>
            <a:r>
              <a:rPr lang="en-US" sz="2400" err="1">
                <a:latin typeface="Aptos Display"/>
                <a:ea typeface="+mn-lt"/>
                <a:cs typeface="+mn-lt"/>
              </a:rPr>
              <a:t>fichier</a:t>
            </a:r>
            <a:r>
              <a:rPr lang="en-US" sz="2400" dirty="0">
                <a:latin typeface="Aptos Display"/>
                <a:ea typeface="+mn-lt"/>
                <a:cs typeface="+mn-lt"/>
              </a:rPr>
              <a:t> de configuration :</a:t>
            </a:r>
            <a:endParaRPr lang="en-US" sz="2400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latin typeface="Aptos Display"/>
                <a:ea typeface="+mn-lt"/>
                <a:cs typeface="+mn-lt"/>
              </a:rPr>
              <a:t>cd /var/www/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git clone </a:t>
            </a:r>
            <a:r>
              <a:rPr lang="en-US" sz="2000" dirty="0">
                <a:latin typeface="Aptos Display"/>
                <a:ea typeface="+mn-lt"/>
                <a:cs typeface="+mn-lt"/>
                <a:hlinkClick r:id="rId1"/>
              </a:rPr>
              <a:t>https://github.com/snipe/snipe-it</a:t>
            </a:r>
            <a:r>
              <a:rPr lang="en-US" sz="2000" dirty="0">
                <a:latin typeface="Aptos Display"/>
                <a:ea typeface="+mn-lt"/>
                <a:cs typeface="+mn-lt"/>
              </a:rPr>
              <a:t> snipe-it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dirty="0">
                <a:latin typeface="Aptos Display"/>
                <a:ea typeface="+mn-lt"/>
                <a:cs typeface="+mn-lt"/>
              </a:rPr>
              <a:t>cd snipe-it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dirty="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cp .</a:t>
            </a:r>
            <a:r>
              <a:rPr lang="en-US" sz="2000" dirty="0" err="1">
                <a:latin typeface="Aptos Display"/>
                <a:ea typeface="+mn-lt"/>
                <a:cs typeface="+mn-lt"/>
              </a:rPr>
              <a:t>env.example</a:t>
            </a:r>
            <a:r>
              <a:rPr lang="en-US" sz="2000" dirty="0">
                <a:latin typeface="Aptos Display"/>
                <a:ea typeface="+mn-lt"/>
                <a:cs typeface="+mn-lt"/>
              </a:rPr>
              <a:t> .env</a:t>
            </a:r>
            <a:endParaRPr lang="en-US" sz="2000" dirty="0">
              <a:latin typeface="Aptos Display"/>
            </a:endParaRPr>
          </a:p>
          <a:p>
            <a:pPr marL="0" indent="0">
              <a:buNone/>
            </a:pPr>
            <a:r>
              <a:rPr lang="en-US" sz="2000" dirty="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nano .env</a:t>
            </a:r>
            <a:endParaRPr lang="en-US" sz="2000" dirty="0">
              <a:latin typeface="Aptos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ea typeface="+mj-lt"/>
                <a:cs typeface="+mj-lt"/>
              </a:rPr>
              <a:t>Dans </a:t>
            </a:r>
            <a:r>
              <a:rPr lang="en-US" sz="3200" dirty="0" err="1">
                <a:ea typeface="+mj-lt"/>
                <a:cs typeface="+mj-lt"/>
              </a:rPr>
              <a:t>l'éditeur</a:t>
            </a:r>
            <a:r>
              <a:rPr lang="en-US" sz="3200" dirty="0">
                <a:ea typeface="+mj-lt"/>
                <a:cs typeface="+mj-lt"/>
              </a:rPr>
              <a:t> Nano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Les </a:t>
            </a:r>
            <a:r>
              <a:rPr lang="en-US" sz="2400" err="1">
                <a:ea typeface="+mn-lt"/>
                <a:cs typeface="+mn-lt"/>
              </a:rPr>
              <a:t>lignes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modifiées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sont</a:t>
            </a:r>
            <a:r>
              <a:rPr lang="en-US" sz="2400" dirty="0">
                <a:ea typeface="+mn-lt"/>
                <a:cs typeface="+mn-lt"/>
              </a:rPr>
              <a:t> :</a:t>
            </a: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latin typeface="Aptos Display"/>
            </a:endParaRPr>
          </a:p>
          <a:p>
            <a:pPr>
              <a:buFont typeface="Arial" panose="020B0604020202020204"/>
              <a:buChar char="•"/>
            </a:pPr>
            <a:r>
              <a:rPr lang="en-US" sz="2000" dirty="0">
                <a:latin typeface="Aptos Display"/>
              </a:rPr>
              <a:t>APP_URL=http://(et </a:t>
            </a:r>
            <a:r>
              <a:rPr lang="en-US" sz="2000" dirty="0" err="1">
                <a:latin typeface="Aptos Display"/>
              </a:rPr>
              <a:t>votre</a:t>
            </a:r>
            <a:r>
              <a:rPr lang="en-US" sz="2000" dirty="0">
                <a:latin typeface="Aptos Display"/>
              </a:rPr>
              <a:t> </a:t>
            </a:r>
            <a:r>
              <a:rPr lang="en-US" sz="2000" dirty="0" err="1">
                <a:latin typeface="Aptos Display"/>
              </a:rPr>
              <a:t>ip</a:t>
            </a:r>
            <a:r>
              <a:rPr lang="en-US" sz="2000" dirty="0">
                <a:latin typeface="Aptos Display"/>
              </a:rPr>
              <a:t>)</a:t>
            </a:r>
            <a:endParaRPr lang="en-US" sz="2000">
              <a:latin typeface="Aptos Display"/>
            </a:endParaRPr>
          </a:p>
          <a:p>
            <a:pPr>
              <a:buFont typeface="Arial" panose="020B0604020202020204"/>
              <a:buChar char="•"/>
            </a:pPr>
            <a:r>
              <a:rPr lang="en-US" sz="2000" dirty="0">
                <a:latin typeface="Aptos Display"/>
              </a:rPr>
              <a:t>APP_TIMEZONE='Europe/Paris'</a:t>
            </a:r>
            <a:endParaRPr lang="en-US" sz="2000">
              <a:latin typeface="Aptos Display"/>
            </a:endParaRPr>
          </a:p>
          <a:p>
            <a:pPr>
              <a:buFont typeface="Arial" panose="020B0604020202020204"/>
              <a:buChar char="•"/>
            </a:pPr>
            <a:r>
              <a:rPr lang="en-US" sz="2000" dirty="0">
                <a:latin typeface="Aptos Display"/>
              </a:rPr>
              <a:t>DB_DATABASE=</a:t>
            </a:r>
            <a:r>
              <a:rPr lang="en-US" sz="2000" dirty="0" err="1">
                <a:latin typeface="Aptos Display"/>
              </a:rPr>
              <a:t>snipeit</a:t>
            </a:r>
            <a:endParaRPr lang="en-US" sz="2000">
              <a:latin typeface="Aptos Display"/>
            </a:endParaRPr>
          </a:p>
          <a:p>
            <a:pPr>
              <a:buFont typeface="Arial" panose="020B0604020202020204"/>
              <a:buChar char="•"/>
            </a:pPr>
            <a:r>
              <a:rPr lang="en-US" sz="2000" dirty="0">
                <a:latin typeface="Aptos Display"/>
              </a:rPr>
              <a:t>DB_USERNAME=</a:t>
            </a:r>
            <a:r>
              <a:rPr lang="en-US" sz="2000" dirty="0" err="1">
                <a:latin typeface="Aptos Display"/>
              </a:rPr>
              <a:t>snipeit_user</a:t>
            </a:r>
            <a:endParaRPr lang="en-US" sz="2000">
              <a:latin typeface="Aptos Display"/>
            </a:endParaRPr>
          </a:p>
          <a:p>
            <a:pPr>
              <a:buFont typeface="Arial" panose="020B0604020202020204"/>
              <a:buChar char="•"/>
            </a:pPr>
            <a:r>
              <a:rPr lang="en-US" sz="2000" dirty="0">
                <a:latin typeface="Aptos Display"/>
              </a:rPr>
              <a:t>DB_PASSWORD=snipeit123</a:t>
            </a:r>
            <a:endParaRPr lang="en-US" sz="2000" dirty="0">
              <a:latin typeface="Aptos Display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ea typeface="+mj-lt"/>
                <a:cs typeface="+mj-lt"/>
              </a:rPr>
              <a:t>Installation des </a:t>
            </a:r>
            <a:r>
              <a:rPr lang="en-US" sz="3200" err="1">
                <a:ea typeface="+mj-lt"/>
                <a:cs typeface="+mj-lt"/>
              </a:rPr>
              <a:t>dépendances</a:t>
            </a:r>
            <a:r>
              <a:rPr lang="en-US" sz="3200" dirty="0">
                <a:ea typeface="+mj-lt"/>
                <a:cs typeface="+mj-lt"/>
              </a:rPr>
              <a:t> et Permissions (script)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Display"/>
                <a:ea typeface="+mn-lt"/>
                <a:cs typeface="+mn-lt"/>
              </a:rPr>
              <a:t>Installation des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composants</a:t>
            </a:r>
            <a:r>
              <a:rPr lang="en-US" sz="2400" dirty="0">
                <a:latin typeface="Aptos Display"/>
                <a:ea typeface="+mn-lt"/>
                <a:cs typeface="+mn-lt"/>
              </a:rPr>
              <a:t> du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logiciel</a:t>
            </a:r>
            <a:r>
              <a:rPr lang="en-US" sz="2400" dirty="0">
                <a:latin typeface="Aptos Display"/>
                <a:ea typeface="+mn-lt"/>
                <a:cs typeface="+mn-lt"/>
              </a:rPr>
              <a:t>,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génération</a:t>
            </a:r>
            <a:r>
              <a:rPr lang="en-US" sz="2400" dirty="0">
                <a:latin typeface="Aptos Display"/>
                <a:ea typeface="+mn-lt"/>
                <a:cs typeface="+mn-lt"/>
              </a:rPr>
              <a:t> de la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clé</a:t>
            </a:r>
            <a:r>
              <a:rPr lang="en-US" sz="2400" dirty="0">
                <a:latin typeface="Aptos Display"/>
                <a:ea typeface="+mn-lt"/>
                <a:cs typeface="+mn-lt"/>
              </a:rPr>
              <a:t> de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cryptage</a:t>
            </a:r>
            <a:r>
              <a:rPr lang="en-US" sz="2400" dirty="0">
                <a:latin typeface="Aptos Display"/>
                <a:ea typeface="+mn-lt"/>
                <a:cs typeface="+mn-lt"/>
              </a:rPr>
              <a:t> et attribution des droits aux dossiers pour le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serveur</a:t>
            </a:r>
            <a:r>
              <a:rPr lang="en-US" sz="2400" dirty="0">
                <a:latin typeface="Aptos Display"/>
                <a:ea typeface="+mn-lt"/>
                <a:cs typeface="+mn-lt"/>
              </a:rPr>
              <a:t> web :</a:t>
            </a:r>
            <a:endParaRPr lang="en-US" sz="2400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dirty="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composer install --no-dev --prefer-source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 artisan </a:t>
            </a:r>
            <a:r>
              <a:rPr lang="en-US" sz="2000" err="1">
                <a:latin typeface="Aptos Display"/>
                <a:ea typeface="+mn-lt"/>
                <a:cs typeface="+mn-lt"/>
              </a:rPr>
              <a:t>key:generate</a:t>
            </a:r>
            <a:endParaRPr lang="en-US" sz="200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chown</a:t>
            </a:r>
            <a:r>
              <a:rPr lang="en-US" sz="2000" dirty="0">
                <a:latin typeface="Aptos Display"/>
                <a:ea typeface="+mn-lt"/>
                <a:cs typeface="+mn-lt"/>
              </a:rPr>
              <a:t> -R </a:t>
            </a:r>
            <a:r>
              <a:rPr lang="en-US" sz="2000" err="1">
                <a:latin typeface="Aptos Display"/>
                <a:ea typeface="+mn-lt"/>
                <a:cs typeface="+mn-lt"/>
              </a:rPr>
              <a:t>www-data:www-data</a:t>
            </a:r>
            <a:r>
              <a:rPr lang="en-US" sz="2000" dirty="0">
                <a:latin typeface="Aptos Display"/>
                <a:ea typeface="+mn-lt"/>
                <a:cs typeface="+mn-lt"/>
              </a:rPr>
              <a:t> /var/www/snipe-it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chmod</a:t>
            </a:r>
            <a:r>
              <a:rPr lang="en-US" sz="2000" dirty="0">
                <a:latin typeface="Aptos Display"/>
                <a:ea typeface="+mn-lt"/>
                <a:cs typeface="+mn-lt"/>
              </a:rPr>
              <a:t> -R 755 /var/www/snipe-it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chmod</a:t>
            </a:r>
            <a:r>
              <a:rPr lang="en-US" sz="2000" dirty="0">
                <a:latin typeface="Aptos Display"/>
                <a:ea typeface="+mn-lt"/>
                <a:cs typeface="+mn-lt"/>
              </a:rPr>
              <a:t> -R 775 /var/www/snipe-it/storage</a:t>
            </a:r>
            <a:endParaRPr lang="en-US" sz="2000" dirty="0">
              <a:latin typeface="Aptos Display"/>
            </a:endParaRPr>
          </a:p>
          <a:p>
            <a:pPr marL="0" indent="0"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chmod</a:t>
            </a:r>
            <a:r>
              <a:rPr lang="en-US" sz="2000" dirty="0">
                <a:latin typeface="Aptos Display"/>
                <a:ea typeface="+mn-lt"/>
                <a:cs typeface="+mn-lt"/>
              </a:rPr>
              <a:t> -R 775 /var/www/snipe-it/public/uploads</a:t>
            </a:r>
            <a:endParaRPr lang="en-US" sz="2000" dirty="0">
              <a:latin typeface="Aptos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ea typeface="+mj-lt"/>
                <a:cs typeface="+mj-lt"/>
              </a:rPr>
              <a:t>Configuration du </a:t>
            </a:r>
            <a:r>
              <a:rPr lang="en-US" sz="3200" err="1">
                <a:ea typeface="+mj-lt"/>
                <a:cs typeface="+mj-lt"/>
              </a:rPr>
              <a:t>serveur</a:t>
            </a:r>
            <a:r>
              <a:rPr lang="en-US" sz="3200" dirty="0">
                <a:ea typeface="+mj-lt"/>
                <a:cs typeface="+mj-lt"/>
              </a:rPr>
              <a:t> Apache (script)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err="1">
                <a:latin typeface="Aptos Display"/>
                <a:ea typeface="+mn-lt"/>
                <a:cs typeface="+mn-lt"/>
              </a:rPr>
              <a:t>Création</a:t>
            </a:r>
            <a:r>
              <a:rPr lang="en-US" sz="2400" dirty="0">
                <a:latin typeface="Aptos Display"/>
                <a:ea typeface="+mn-lt"/>
                <a:cs typeface="+mn-lt"/>
              </a:rPr>
              <a:t> du </a:t>
            </a:r>
            <a:r>
              <a:rPr lang="en-US" sz="2400" err="1">
                <a:latin typeface="Aptos Display"/>
                <a:ea typeface="+mn-lt"/>
                <a:cs typeface="+mn-lt"/>
              </a:rPr>
              <a:t>fichier</a:t>
            </a:r>
            <a:r>
              <a:rPr lang="en-US" sz="2400" dirty="0">
                <a:latin typeface="Aptos Display"/>
                <a:ea typeface="+mn-lt"/>
                <a:cs typeface="+mn-lt"/>
              </a:rPr>
              <a:t> qui </a:t>
            </a:r>
            <a:r>
              <a:rPr lang="en-US" sz="2400" err="1">
                <a:latin typeface="Aptos Display"/>
                <a:ea typeface="+mn-lt"/>
                <a:cs typeface="+mn-lt"/>
              </a:rPr>
              <a:t>indique</a:t>
            </a:r>
            <a:r>
              <a:rPr lang="en-US" sz="2400" dirty="0">
                <a:latin typeface="Aptos Display"/>
                <a:ea typeface="+mn-lt"/>
                <a:cs typeface="+mn-lt"/>
              </a:rPr>
              <a:t> à Apache comment </a:t>
            </a:r>
            <a:r>
              <a:rPr lang="en-US" sz="2400" err="1">
                <a:latin typeface="Aptos Display"/>
                <a:ea typeface="+mn-lt"/>
                <a:cs typeface="+mn-lt"/>
              </a:rPr>
              <a:t>afficher</a:t>
            </a:r>
            <a:r>
              <a:rPr lang="en-US" sz="2400" dirty="0">
                <a:latin typeface="Aptos Display"/>
                <a:ea typeface="+mn-lt"/>
                <a:cs typeface="+mn-lt"/>
              </a:rPr>
              <a:t> le site :</a:t>
            </a:r>
            <a:endParaRPr lang="en-US" sz="240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latin typeface="Aptos Display"/>
            </a:endParaRPr>
          </a:p>
          <a:p>
            <a:pPr marL="0" indent="0"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nano /</a:t>
            </a:r>
            <a:r>
              <a:rPr lang="en-US" sz="2000" err="1">
                <a:latin typeface="Aptos Display"/>
                <a:ea typeface="+mn-lt"/>
                <a:cs typeface="+mn-lt"/>
              </a:rPr>
              <a:t>etc</a:t>
            </a:r>
            <a:r>
              <a:rPr lang="en-US" sz="2000" dirty="0">
                <a:latin typeface="Aptos Display"/>
                <a:ea typeface="+mn-lt"/>
                <a:cs typeface="+mn-lt"/>
              </a:rPr>
              <a:t>/apache2/sites-available/</a:t>
            </a:r>
            <a:r>
              <a:rPr lang="en-US" sz="2000" err="1">
                <a:latin typeface="Aptos Display"/>
                <a:ea typeface="+mn-lt"/>
                <a:cs typeface="+mn-lt"/>
              </a:rPr>
              <a:t>snipeit.conf</a:t>
            </a:r>
            <a:endParaRPr lang="en-US" sz="2000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latin typeface="Aptos Display"/>
            </a:endParaRPr>
          </a:p>
          <a:p>
            <a:pPr marL="0" indent="0">
              <a:buNone/>
            </a:pPr>
            <a:r>
              <a:rPr lang="en-US" sz="2000" dirty="0" err="1">
                <a:latin typeface="Aptos Display"/>
                <a:ea typeface="+mn-lt"/>
                <a:cs typeface="+mn-lt"/>
              </a:rPr>
              <a:t>Contenu</a:t>
            </a:r>
            <a:r>
              <a:rPr lang="en-US" sz="2000" dirty="0">
                <a:latin typeface="Aptos Display"/>
                <a:ea typeface="+mn-lt"/>
                <a:cs typeface="+mn-lt"/>
              </a:rPr>
              <a:t> à </a:t>
            </a:r>
            <a:r>
              <a:rPr lang="en-US" sz="2000" dirty="0" err="1">
                <a:latin typeface="Aptos Display"/>
                <a:ea typeface="+mn-lt"/>
                <a:cs typeface="+mn-lt"/>
              </a:rPr>
              <a:t>mettre</a:t>
            </a:r>
            <a:r>
              <a:rPr lang="en-US" sz="2000" dirty="0">
                <a:latin typeface="Aptos Display"/>
                <a:ea typeface="+mn-lt"/>
                <a:cs typeface="+mn-lt"/>
              </a:rPr>
              <a:t> dans le </a:t>
            </a:r>
            <a:r>
              <a:rPr lang="en-US" sz="2000" dirty="0" err="1">
                <a:latin typeface="Aptos Display"/>
                <a:ea typeface="+mn-lt"/>
                <a:cs typeface="+mn-lt"/>
              </a:rPr>
              <a:t>fichier</a:t>
            </a:r>
            <a:r>
              <a:rPr lang="en-US" sz="2000" dirty="0">
                <a:latin typeface="Aptos Display"/>
                <a:ea typeface="+mn-lt"/>
                <a:cs typeface="+mn-lt"/>
              </a:rPr>
              <a:t> :</a:t>
            </a:r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&lt;</a:t>
            </a:r>
            <a:r>
              <a:rPr lang="en-US" sz="2000" dirty="0" err="1">
                <a:ea typeface="+mn-lt"/>
                <a:cs typeface="+mn-lt"/>
              </a:rPr>
              <a:t>VirtualHost</a:t>
            </a:r>
            <a:r>
              <a:rPr lang="en-US" sz="2000" dirty="0">
                <a:ea typeface="+mn-lt"/>
                <a:cs typeface="+mn-lt"/>
              </a:rPr>
              <a:t> *:80&gt;</a:t>
            </a:r>
            <a:endParaRPr lang="en-US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</a:t>
            </a:r>
            <a:r>
              <a:rPr lang="en-US" sz="2000" dirty="0" err="1">
                <a:ea typeface="+mn-lt"/>
                <a:cs typeface="+mn-lt"/>
              </a:rPr>
              <a:t>ServerName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votre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ip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</a:t>
            </a:r>
            <a:r>
              <a:rPr lang="en-US" sz="2000" dirty="0" err="1">
                <a:ea typeface="+mn-lt"/>
                <a:cs typeface="+mn-lt"/>
              </a:rPr>
              <a:t>DocumentRoot</a:t>
            </a:r>
            <a:r>
              <a:rPr lang="en-US" sz="2000" dirty="0">
                <a:ea typeface="+mn-lt"/>
                <a:cs typeface="+mn-lt"/>
              </a:rPr>
              <a:t> /var/www/snipe-it/public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&lt;Directory /var/www/snipe-it/public&gt;</a:t>
            </a:r>
            <a:endParaRPr lang="en-US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     </a:t>
            </a:r>
            <a:r>
              <a:rPr lang="en-US" sz="2000" dirty="0" err="1">
                <a:ea typeface="+mn-lt"/>
                <a:cs typeface="+mn-lt"/>
              </a:rPr>
              <a:t>AllowOverride</a:t>
            </a:r>
            <a:r>
              <a:rPr lang="en-US" sz="2000" dirty="0">
                <a:ea typeface="+mn-lt"/>
                <a:cs typeface="+mn-lt"/>
              </a:rPr>
              <a:t> All</a:t>
            </a:r>
            <a:endParaRPr lang="en-US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     Require all granted</a:t>
            </a:r>
            <a:endParaRPr lang="en-US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&lt;/Directory&gt;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&lt;/</a:t>
            </a:r>
            <a:r>
              <a:rPr lang="en-US" sz="2000" dirty="0" err="1">
                <a:ea typeface="+mn-lt"/>
                <a:cs typeface="+mn-lt"/>
              </a:rPr>
              <a:t>VirtualHost</a:t>
            </a:r>
            <a:r>
              <a:rPr lang="en-US" sz="2000" dirty="0">
                <a:ea typeface="+mn-lt"/>
                <a:cs typeface="+mn-lt"/>
              </a:rPr>
              <a:t>&gt;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ea typeface="+mj-lt"/>
                <a:cs typeface="+mj-lt"/>
              </a:rPr>
              <a:t>Activation et </a:t>
            </a:r>
            <a:r>
              <a:rPr lang="en-US" sz="3200" err="1">
                <a:ea typeface="+mj-lt"/>
                <a:cs typeface="+mj-lt"/>
              </a:rPr>
              <a:t>Démarrage</a:t>
            </a:r>
            <a:r>
              <a:rPr lang="en-US" sz="3200" dirty="0">
                <a:ea typeface="+mj-lt"/>
                <a:cs typeface="+mj-lt"/>
              </a:rPr>
              <a:t> final (script)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Aptos Display"/>
                <a:ea typeface="+mn-lt"/>
                <a:cs typeface="+mn-lt"/>
              </a:rPr>
              <a:t>Désactivation</a:t>
            </a:r>
            <a:r>
              <a:rPr lang="en-US" sz="2400" dirty="0">
                <a:latin typeface="Aptos Display"/>
                <a:ea typeface="+mn-lt"/>
                <a:cs typeface="+mn-lt"/>
              </a:rPr>
              <a:t> du site par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défaut</a:t>
            </a:r>
            <a:r>
              <a:rPr lang="en-US" sz="2400" dirty="0"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d'Apache</a:t>
            </a:r>
            <a:r>
              <a:rPr lang="en-US" sz="2400" dirty="0">
                <a:latin typeface="Aptos Display"/>
                <a:ea typeface="+mn-lt"/>
                <a:cs typeface="+mn-lt"/>
              </a:rPr>
              <a:t>, activation de Snipe-IT,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rechargement</a:t>
            </a:r>
            <a:r>
              <a:rPr lang="en-US" sz="2400" dirty="0">
                <a:latin typeface="Aptos Display"/>
                <a:ea typeface="+mn-lt"/>
                <a:cs typeface="+mn-lt"/>
              </a:rPr>
              <a:t> des services et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nettoyage</a:t>
            </a:r>
            <a:r>
              <a:rPr lang="en-US" sz="2400" dirty="0">
                <a:latin typeface="Aptos Display"/>
                <a:ea typeface="+mn-lt"/>
                <a:cs typeface="+mn-lt"/>
              </a:rPr>
              <a:t> du cache pour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que</a:t>
            </a:r>
            <a:r>
              <a:rPr lang="en-US" sz="2400" dirty="0">
                <a:latin typeface="Aptos Display"/>
                <a:ea typeface="+mn-lt"/>
                <a:cs typeface="+mn-lt"/>
              </a:rPr>
              <a:t> le mot de passe de la base de données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soit</a:t>
            </a:r>
            <a:r>
              <a:rPr lang="en-US" sz="2400" dirty="0">
                <a:latin typeface="Aptos Display"/>
                <a:ea typeface="+mn-lt"/>
                <a:cs typeface="+mn-lt"/>
              </a:rPr>
              <a:t> bien pris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en</a:t>
            </a:r>
            <a:r>
              <a:rPr lang="en-US" sz="2400" dirty="0">
                <a:latin typeface="Aptos Display"/>
                <a:ea typeface="+mn-lt"/>
                <a:cs typeface="+mn-lt"/>
              </a:rPr>
              <a:t> </a:t>
            </a:r>
            <a:r>
              <a:rPr lang="en-US" sz="2400" dirty="0" err="1">
                <a:latin typeface="Aptos Display"/>
                <a:ea typeface="+mn-lt"/>
                <a:cs typeface="+mn-lt"/>
              </a:rPr>
              <a:t>compte</a:t>
            </a:r>
            <a:r>
              <a:rPr lang="en-US" sz="2400" dirty="0">
                <a:latin typeface="Aptos Display"/>
                <a:ea typeface="+mn-lt"/>
                <a:cs typeface="+mn-lt"/>
              </a:rPr>
              <a:t> : </a:t>
            </a:r>
            <a:endParaRPr lang="en-US" sz="2400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dirty="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a2ensite </a:t>
            </a:r>
            <a:r>
              <a:rPr lang="en-US" sz="2000" dirty="0" err="1">
                <a:latin typeface="Aptos Display"/>
                <a:ea typeface="+mn-lt"/>
                <a:cs typeface="+mn-lt"/>
              </a:rPr>
              <a:t>snipeit.conf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dirty="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a2dissite 000-default.conf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systemctl</a:t>
            </a:r>
            <a:r>
              <a:rPr lang="en-US" sz="2000" dirty="0">
                <a:latin typeface="Aptos Display"/>
                <a:ea typeface="+mn-lt"/>
                <a:cs typeface="+mn-lt"/>
              </a:rPr>
              <a:t> daemon-reload</a:t>
            </a:r>
            <a:endParaRPr lang="en-US" sz="2000" dirty="0">
              <a:latin typeface="Aptos Display"/>
            </a:endParaRPr>
          </a:p>
          <a:p>
            <a:pPr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systemctl</a:t>
            </a:r>
            <a:r>
              <a:rPr lang="en-US" sz="2000" dirty="0">
                <a:latin typeface="Aptos Display"/>
                <a:ea typeface="+mn-lt"/>
                <a:cs typeface="+mn-lt"/>
              </a:rPr>
              <a:t> restart apache2</a:t>
            </a:r>
            <a:endParaRPr lang="en-US" sz="2000" dirty="0">
              <a:latin typeface="Aptos Display"/>
            </a:endParaRPr>
          </a:p>
          <a:p>
            <a:pPr marL="0" indent="0">
              <a:buNone/>
            </a:pPr>
            <a:r>
              <a:rPr lang="en-US" sz="2000" err="1">
                <a:latin typeface="Aptos Display"/>
                <a:ea typeface="+mn-lt"/>
                <a:cs typeface="+mn-lt"/>
              </a:rPr>
              <a:t>sudo</a:t>
            </a:r>
            <a:r>
              <a:rPr lang="en-US" sz="2000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php</a:t>
            </a:r>
            <a:r>
              <a:rPr lang="en-US" sz="2000" dirty="0">
                <a:latin typeface="Aptos Display"/>
                <a:ea typeface="+mn-lt"/>
                <a:cs typeface="+mn-lt"/>
              </a:rPr>
              <a:t> artisan </a:t>
            </a:r>
            <a:r>
              <a:rPr lang="en-US" sz="2000" err="1">
                <a:latin typeface="Aptos Display"/>
                <a:ea typeface="+mn-lt"/>
                <a:cs typeface="+mn-lt"/>
              </a:rPr>
              <a:t>config:clear</a:t>
            </a:r>
            <a:endParaRPr lang="en-US" sz="2000" err="1">
              <a:latin typeface="Aptos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2800" dirty="0" err="1">
                <a:ea typeface="+mj-lt"/>
                <a:cs typeface="+mj-lt"/>
              </a:rPr>
              <a:t>Vérification</a:t>
            </a:r>
            <a:r>
              <a:rPr lang="en-US" sz="2800" dirty="0">
                <a:ea typeface="+mj-lt"/>
                <a:cs typeface="+mj-lt"/>
              </a:rPr>
              <a:t> de la configuration </a:t>
            </a:r>
            <a:r>
              <a:rPr lang="en-US" sz="2800" dirty="0" err="1">
                <a:ea typeface="+mj-lt"/>
                <a:cs typeface="+mj-lt"/>
              </a:rPr>
              <a:t>initiale</a:t>
            </a:r>
            <a:br>
              <a:rPr lang="en-US" sz="2800" dirty="0">
                <a:ea typeface="+mj-lt"/>
                <a:cs typeface="+mj-lt"/>
              </a:rPr>
            </a:br>
            <a:br>
              <a:rPr lang="en-US" sz="2800" dirty="0">
                <a:ea typeface="+mj-lt"/>
                <a:cs typeface="+mj-lt"/>
              </a:rPr>
            </a:br>
            <a:r>
              <a:rPr lang="en-US" sz="2000" dirty="0">
                <a:ea typeface="+mj-lt"/>
                <a:cs typeface="+mj-lt"/>
              </a:rPr>
              <a:t>La première étape de </a:t>
            </a:r>
            <a:r>
              <a:rPr lang="en-US" sz="2000" dirty="0" err="1">
                <a:ea typeface="+mj-lt"/>
                <a:cs typeface="+mj-lt"/>
              </a:rPr>
              <a:t>l'installation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dirty="0" err="1">
                <a:ea typeface="+mj-lt"/>
                <a:cs typeface="+mj-lt"/>
              </a:rPr>
              <a:t>valide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dirty="0" err="1">
                <a:ea typeface="+mj-lt"/>
                <a:cs typeface="+mj-lt"/>
              </a:rPr>
              <a:t>automatiquement</a:t>
            </a:r>
            <a:r>
              <a:rPr lang="en-US" sz="2000" dirty="0">
                <a:ea typeface="+mj-lt"/>
                <a:cs typeface="+mj-lt"/>
              </a:rPr>
              <a:t> les </a:t>
            </a:r>
            <a:r>
              <a:rPr lang="en-US" sz="2000" dirty="0" err="1">
                <a:ea typeface="+mj-lt"/>
                <a:cs typeface="+mj-lt"/>
              </a:rPr>
              <a:t>prérequis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dirty="0" err="1">
                <a:ea typeface="+mj-lt"/>
                <a:cs typeface="+mj-lt"/>
              </a:rPr>
              <a:t>système</a:t>
            </a:r>
            <a:r>
              <a:rPr lang="en-US" sz="2000" dirty="0">
                <a:ea typeface="+mj-lt"/>
                <a:cs typeface="+mj-lt"/>
              </a:rPr>
              <a:t> (PHP, base de données, permissions) pour </a:t>
            </a:r>
            <a:r>
              <a:rPr lang="en-US" sz="2000" dirty="0" err="1">
                <a:ea typeface="+mj-lt"/>
                <a:cs typeface="+mj-lt"/>
              </a:rPr>
              <a:t>garantir</a:t>
            </a:r>
            <a:r>
              <a:rPr lang="en-US" sz="2000" dirty="0">
                <a:ea typeface="+mj-lt"/>
                <a:cs typeface="+mj-lt"/>
              </a:rPr>
              <a:t> un </a:t>
            </a:r>
            <a:r>
              <a:rPr lang="en-US" sz="2000" dirty="0" err="1">
                <a:ea typeface="+mj-lt"/>
                <a:cs typeface="+mj-lt"/>
              </a:rPr>
              <a:t>déploiement</a:t>
            </a:r>
            <a:r>
              <a:rPr lang="en-US" sz="2000" dirty="0">
                <a:ea typeface="+mj-lt"/>
                <a:cs typeface="+mj-lt"/>
              </a:rPr>
              <a:t> sans </a:t>
            </a:r>
            <a:r>
              <a:rPr lang="en-US" sz="2000" dirty="0" err="1">
                <a:ea typeface="+mj-lt"/>
                <a:cs typeface="+mj-lt"/>
              </a:rPr>
              <a:t>accroc</a:t>
            </a:r>
            <a:endParaRPr lang="en-US" sz="2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61469" y="1943894"/>
            <a:ext cx="466906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 dirty="0">
                <a:ea typeface="+mj-lt"/>
                <a:cs typeface="+mj-lt"/>
              </a:rPr>
              <a:t>Structuration de la base de données</a:t>
            </a:r>
            <a:br>
              <a:rPr lang="en-US" sz="2400" dirty="0">
                <a:ea typeface="+mj-lt"/>
                <a:cs typeface="+mj-lt"/>
              </a:rPr>
            </a:br>
            <a:br>
              <a:rPr lang="en-US" sz="2400" dirty="0">
                <a:ea typeface="+mj-lt"/>
                <a:cs typeface="+mj-lt"/>
              </a:rPr>
            </a:br>
            <a:r>
              <a:rPr lang="en-US" sz="1800" dirty="0">
                <a:ea typeface="+mj-lt"/>
                <a:cs typeface="+mj-lt"/>
              </a:rPr>
              <a:t>Cette étape </a:t>
            </a:r>
            <a:r>
              <a:rPr lang="en-US" sz="1800" dirty="0" err="1">
                <a:ea typeface="+mj-lt"/>
                <a:cs typeface="+mj-lt"/>
              </a:rPr>
              <a:t>exécute</a:t>
            </a:r>
            <a:r>
              <a:rPr lang="en-US" sz="1800" dirty="0">
                <a:ea typeface="+mj-lt"/>
                <a:cs typeface="+mj-lt"/>
              </a:rPr>
              <a:t> les migrations </a:t>
            </a:r>
            <a:r>
              <a:rPr lang="en-US" sz="1800" dirty="0" err="1">
                <a:ea typeface="+mj-lt"/>
                <a:cs typeface="+mj-lt"/>
              </a:rPr>
              <a:t>nécessaires</a:t>
            </a:r>
            <a:r>
              <a:rPr lang="en-US" sz="1800" dirty="0">
                <a:ea typeface="+mj-lt"/>
                <a:cs typeface="+mj-lt"/>
              </a:rPr>
              <a:t> pour </a:t>
            </a:r>
            <a:r>
              <a:rPr lang="en-US" sz="1800" dirty="0" err="1">
                <a:ea typeface="+mj-lt"/>
                <a:cs typeface="+mj-lt"/>
              </a:rPr>
              <a:t>créer</a:t>
            </a:r>
            <a:r>
              <a:rPr lang="en-US" sz="1800" dirty="0">
                <a:ea typeface="+mj-lt"/>
                <a:cs typeface="+mj-lt"/>
              </a:rPr>
              <a:t> les tables dans la base de données, </a:t>
            </a:r>
            <a:r>
              <a:rPr lang="en-US" sz="1800" dirty="0" err="1">
                <a:ea typeface="+mj-lt"/>
                <a:cs typeface="+mj-lt"/>
              </a:rPr>
              <a:t>préparant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ainsi</a:t>
            </a:r>
            <a:r>
              <a:rPr lang="en-US" sz="1800" dirty="0">
                <a:ea typeface="+mj-lt"/>
                <a:cs typeface="+mj-lt"/>
              </a:rPr>
              <a:t> le </a:t>
            </a:r>
            <a:r>
              <a:rPr lang="en-US" sz="1800" dirty="0" err="1">
                <a:ea typeface="+mj-lt"/>
                <a:cs typeface="+mj-lt"/>
              </a:rPr>
              <a:t>système</a:t>
            </a:r>
            <a:r>
              <a:rPr lang="en-US" sz="1800" dirty="0">
                <a:ea typeface="+mj-lt"/>
                <a:cs typeface="+mj-lt"/>
              </a:rPr>
              <a:t> à stocker </a:t>
            </a:r>
            <a:r>
              <a:rPr lang="en-US" sz="1800" dirty="0" err="1">
                <a:ea typeface="+mj-lt"/>
                <a:cs typeface="+mj-lt"/>
              </a:rPr>
              <a:t>toutes</a:t>
            </a:r>
            <a:r>
              <a:rPr lang="en-US" sz="1800" dirty="0">
                <a:ea typeface="+mj-lt"/>
                <a:cs typeface="+mj-lt"/>
              </a:rPr>
              <a:t> les </a:t>
            </a:r>
            <a:r>
              <a:rPr lang="en-US" sz="1800" dirty="0" err="1">
                <a:ea typeface="+mj-lt"/>
                <a:cs typeface="+mj-lt"/>
              </a:rPr>
              <a:t>informations</a:t>
            </a:r>
            <a:r>
              <a:rPr lang="en-US" sz="1800" dirty="0">
                <a:ea typeface="+mj-lt"/>
                <a:cs typeface="+mj-lt"/>
              </a:rPr>
              <a:t> de </a:t>
            </a:r>
            <a:r>
              <a:rPr lang="en-US" sz="1800" dirty="0" err="1">
                <a:ea typeface="+mj-lt"/>
                <a:cs typeface="+mj-lt"/>
              </a:rPr>
              <a:t>notre</a:t>
            </a:r>
            <a:r>
              <a:rPr lang="en-US" sz="1800" dirty="0">
                <a:ea typeface="+mj-lt"/>
                <a:cs typeface="+mj-lt"/>
              </a:rPr>
              <a:t> parc.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0" y="2392862"/>
            <a:ext cx="6096000" cy="32168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 dirty="0" err="1">
                <a:ea typeface="+mj-lt"/>
                <a:cs typeface="+mj-lt"/>
              </a:rPr>
              <a:t>Création</a:t>
            </a:r>
            <a:r>
              <a:rPr lang="en-US" sz="2400" dirty="0">
                <a:ea typeface="+mj-lt"/>
                <a:cs typeface="+mj-lt"/>
              </a:rPr>
              <a:t> du </a:t>
            </a:r>
            <a:r>
              <a:rPr lang="en-US" sz="2400" dirty="0" err="1">
                <a:ea typeface="+mj-lt"/>
                <a:cs typeface="+mj-lt"/>
              </a:rPr>
              <a:t>compte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Administrateur</a:t>
            </a:r>
            <a:br>
              <a:rPr lang="en-US" sz="2400" dirty="0">
                <a:ea typeface="+mj-lt"/>
                <a:cs typeface="+mj-lt"/>
              </a:rPr>
            </a:br>
            <a:br>
              <a:rPr lang="en-US" sz="2400" dirty="0">
                <a:ea typeface="+mj-lt"/>
                <a:cs typeface="+mj-lt"/>
              </a:rPr>
            </a:br>
            <a:r>
              <a:rPr lang="en-US" sz="1800" dirty="0">
                <a:ea typeface="+mj-lt"/>
                <a:cs typeface="+mj-lt"/>
              </a:rPr>
              <a:t>Configuration du </a:t>
            </a:r>
            <a:r>
              <a:rPr lang="en-US" sz="1800" dirty="0" err="1">
                <a:ea typeface="+mj-lt"/>
                <a:cs typeface="+mj-lt"/>
              </a:rPr>
              <a:t>profil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d'administration</a:t>
            </a:r>
            <a:r>
              <a:rPr lang="en-US" sz="1800" dirty="0">
                <a:ea typeface="+mj-lt"/>
                <a:cs typeface="+mj-lt"/>
              </a:rPr>
              <a:t> principal (</a:t>
            </a:r>
            <a:r>
              <a:rPr lang="en-US" sz="1800" dirty="0" err="1">
                <a:ea typeface="+mj-lt"/>
                <a:cs typeface="+mj-lt"/>
              </a:rPr>
              <a:t>identifiants</a:t>
            </a:r>
            <a:r>
              <a:rPr lang="en-US" sz="1800" dirty="0">
                <a:ea typeface="+mj-lt"/>
                <a:cs typeface="+mj-lt"/>
              </a:rPr>
              <a:t>, mot de passe et droits de </a:t>
            </a:r>
            <a:r>
              <a:rPr lang="en-US" sz="1800" dirty="0" err="1">
                <a:ea typeface="+mj-lt"/>
                <a:cs typeface="+mj-lt"/>
              </a:rPr>
              <a:t>connexion</a:t>
            </a:r>
            <a:r>
              <a:rPr lang="en-US" sz="1800" dirty="0">
                <a:ea typeface="+mj-lt"/>
                <a:cs typeface="+mj-lt"/>
              </a:rPr>
              <a:t>) pour prendre le </a:t>
            </a:r>
            <a:r>
              <a:rPr lang="en-US" sz="1800" dirty="0" err="1">
                <a:ea typeface="+mj-lt"/>
                <a:cs typeface="+mj-lt"/>
              </a:rPr>
              <a:t>contrôle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sécurisé</a:t>
            </a:r>
            <a:r>
              <a:rPr lang="en-US" sz="1800" dirty="0">
                <a:ea typeface="+mj-lt"/>
                <a:cs typeface="+mj-lt"/>
              </a:rPr>
              <a:t> de la </a:t>
            </a:r>
            <a:r>
              <a:rPr lang="en-US" sz="1800" dirty="0" err="1">
                <a:ea typeface="+mj-lt"/>
                <a:cs typeface="+mj-lt"/>
              </a:rPr>
              <a:t>plateforme</a:t>
            </a:r>
            <a:endParaRPr lang="en-US" sz="1800" dirty="0" err="1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0862" y="2610644"/>
            <a:ext cx="6010275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 dirty="0">
                <a:ea typeface="+mj-lt"/>
                <a:cs typeface="+mj-lt"/>
              </a:rPr>
              <a:t>Vue </a:t>
            </a:r>
            <a:r>
              <a:rPr lang="en-US" sz="2400" err="1">
                <a:ea typeface="+mj-lt"/>
                <a:cs typeface="+mj-lt"/>
              </a:rPr>
              <a:t>d'ensemble</a:t>
            </a:r>
            <a:r>
              <a:rPr lang="en-US" sz="2400" dirty="0">
                <a:ea typeface="+mj-lt"/>
                <a:cs typeface="+mj-lt"/>
              </a:rPr>
              <a:t> : Le Tableau de Bord</a:t>
            </a:r>
            <a:br>
              <a:rPr lang="en-US" sz="2400" dirty="0">
                <a:ea typeface="+mj-lt"/>
                <a:cs typeface="+mj-lt"/>
              </a:rPr>
            </a:br>
            <a:br>
              <a:rPr lang="en-US" sz="2400" dirty="0">
                <a:ea typeface="+mj-lt"/>
                <a:cs typeface="+mj-lt"/>
              </a:rPr>
            </a:br>
            <a:r>
              <a:rPr lang="en-US" sz="1800" err="1">
                <a:ea typeface="+mj-lt"/>
                <a:cs typeface="+mj-lt"/>
              </a:rPr>
              <a:t>L'espace</a:t>
            </a:r>
            <a:r>
              <a:rPr lang="en-US" sz="1800" dirty="0">
                <a:ea typeface="+mj-lt"/>
                <a:cs typeface="+mj-lt"/>
              </a:rPr>
              <a:t> de travail central </a:t>
            </a:r>
            <a:r>
              <a:rPr lang="en-US" sz="1800" err="1">
                <a:ea typeface="+mj-lt"/>
                <a:cs typeface="+mj-lt"/>
              </a:rPr>
              <a:t>une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fois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l'installation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terminée</a:t>
            </a:r>
            <a:r>
              <a:rPr lang="en-US" sz="1800" dirty="0">
                <a:ea typeface="+mj-lt"/>
                <a:cs typeface="+mj-lt"/>
              </a:rPr>
              <a:t>. Il </a:t>
            </a:r>
            <a:r>
              <a:rPr lang="en-US" sz="1800" err="1">
                <a:ea typeface="+mj-lt"/>
                <a:cs typeface="+mj-lt"/>
              </a:rPr>
              <a:t>offre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une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visibilité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immédiate</a:t>
            </a:r>
            <a:r>
              <a:rPr lang="en-US" sz="1800" dirty="0">
                <a:ea typeface="+mj-lt"/>
                <a:cs typeface="+mj-lt"/>
              </a:rPr>
              <a:t> sur les </a:t>
            </a:r>
            <a:r>
              <a:rPr lang="en-US" sz="1800" err="1">
                <a:ea typeface="+mj-lt"/>
                <a:cs typeface="+mj-lt"/>
              </a:rPr>
              <a:t>différentes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catégories</a:t>
            </a:r>
            <a:r>
              <a:rPr lang="en-US" sz="1800" dirty="0">
                <a:ea typeface="+mj-lt"/>
                <a:cs typeface="+mj-lt"/>
              </a:rPr>
              <a:t> de gestion : </a:t>
            </a:r>
            <a:r>
              <a:rPr lang="en-US" sz="1800" err="1">
                <a:ea typeface="+mj-lt"/>
                <a:cs typeface="+mj-lt"/>
              </a:rPr>
              <a:t>actifs</a:t>
            </a:r>
            <a:r>
              <a:rPr lang="en-US" sz="1800" dirty="0">
                <a:ea typeface="+mj-lt"/>
                <a:cs typeface="+mj-lt"/>
              </a:rPr>
              <a:t>, </a:t>
            </a:r>
            <a:r>
              <a:rPr lang="en-US" sz="1800" err="1">
                <a:ea typeface="+mj-lt"/>
                <a:cs typeface="+mj-lt"/>
              </a:rPr>
              <a:t>licences</a:t>
            </a:r>
            <a:r>
              <a:rPr lang="en-US" sz="1800" dirty="0">
                <a:ea typeface="+mj-lt"/>
                <a:cs typeface="+mj-lt"/>
              </a:rPr>
              <a:t>, </a:t>
            </a:r>
            <a:r>
              <a:rPr lang="en-US" sz="1800" err="1">
                <a:ea typeface="+mj-lt"/>
                <a:cs typeface="+mj-lt"/>
              </a:rPr>
              <a:t>accessoires</a:t>
            </a:r>
            <a:r>
              <a:rPr lang="en-US" sz="1800" dirty="0">
                <a:ea typeface="+mj-lt"/>
                <a:cs typeface="+mj-lt"/>
              </a:rPr>
              <a:t>, </a:t>
            </a:r>
            <a:r>
              <a:rPr lang="en-US" sz="1800" err="1">
                <a:ea typeface="+mj-lt"/>
                <a:cs typeface="+mj-lt"/>
              </a:rPr>
              <a:t>consommables</a:t>
            </a:r>
            <a:r>
              <a:rPr lang="en-US" sz="1800" dirty="0">
                <a:ea typeface="+mj-lt"/>
                <a:cs typeface="+mj-lt"/>
              </a:rPr>
              <a:t>, </a:t>
            </a:r>
            <a:r>
              <a:rPr lang="en-US" sz="1800" err="1">
                <a:ea typeface="+mj-lt"/>
                <a:cs typeface="+mj-lt"/>
              </a:rPr>
              <a:t>composants</a:t>
            </a:r>
            <a:r>
              <a:rPr lang="en-US" sz="1800" dirty="0">
                <a:ea typeface="+mj-lt"/>
                <a:cs typeface="+mj-lt"/>
              </a:rPr>
              <a:t> et </a:t>
            </a:r>
            <a:r>
              <a:rPr lang="en-US" sz="1800" err="1">
                <a:ea typeface="+mj-lt"/>
                <a:cs typeface="+mj-lt"/>
              </a:rPr>
              <a:t>utilisateurs</a:t>
            </a:r>
            <a:r>
              <a:rPr lang="en-US" sz="1800" dirty="0">
                <a:ea typeface="+mj-lt"/>
                <a:cs typeface="+mj-lt"/>
              </a:rPr>
              <a:t>.</a:t>
            </a:r>
            <a:endParaRPr lang="en-US" sz="1800" dirty="0"/>
          </a:p>
          <a:p>
            <a:pPr algn="ctr"/>
            <a:endParaRPr lang="en-US" sz="2400" dirty="0">
              <a:ea typeface="+mj-lt"/>
              <a:cs typeface="+mj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0" y="2431234"/>
            <a:ext cx="6096000" cy="26358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5408</Words>
  <Application>WPS Presentation</Application>
  <PresentationFormat>Widescreen</PresentationFormat>
  <Paragraphs>150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Aptos Display</vt:lpstr>
      <vt:lpstr>Segoe UI Variable Display</vt:lpstr>
      <vt:lpstr>Consolas</vt:lpstr>
      <vt:lpstr>Arial</vt:lpstr>
      <vt:lpstr>Aptos</vt:lpstr>
      <vt:lpstr>Segoe UI</vt:lpstr>
      <vt:lpstr>Microsoft YaHei</vt:lpstr>
      <vt:lpstr>Arial Unicode MS</vt:lpstr>
      <vt:lpstr>Calibri</vt:lpstr>
      <vt:lpstr>Thème Office</vt:lpstr>
      <vt:lpstr>SNIPE-IT</vt:lpstr>
      <vt:lpstr>Qu'est ce que SNIPE-IT ?</vt:lpstr>
      <vt:lpstr>LES PREREQUIS </vt:lpstr>
      <vt:lpstr>Système d'exploitation et Réseau </vt:lpstr>
      <vt:lpstr>Le cœur du serveur</vt:lpstr>
      <vt:lpstr>Extensions PHP obligatoires</vt:lpstr>
      <vt:lpstr>Outils système supplémentaires</vt:lpstr>
      <vt:lpstr>Prérequis et Serveur Web (script)</vt:lpstr>
      <vt:lpstr>Création de la Base de données (script)</vt:lpstr>
      <vt:lpstr>Installation de Composer (script)</vt:lpstr>
      <vt:lpstr>Téléchargement et Configuration de Snipe-IT (script)</vt:lpstr>
      <vt:lpstr>Dans l'éditeur Nano</vt:lpstr>
      <vt:lpstr>Installation des dépendances et Permissions (script)</vt:lpstr>
      <vt:lpstr>Configuration du serveur Apache (script)</vt:lpstr>
      <vt:lpstr>Activation et Démarrage final (script)</vt:lpstr>
      <vt:lpstr>Vérification de la configuration initiale  La première étape de l'installation valide automatiquement les prérequis système (PHP, base de données, permissions) pour garantir un déploiement sans accroc</vt:lpstr>
      <vt:lpstr>Structuration de la base de données  Cette étape exécute les migrations nécessaires pour créer les tables dans la base de données, préparant ainsi le système à stocker toutes les informations de notre parc.</vt:lpstr>
      <vt:lpstr>Création du compte Administrateur  Configuration du profil d'administration principal (identifiants, mot de passe et droits de connexion) pour prendre le contrôle sécurisé de la plateforme</vt:lpstr>
      <vt:lpstr>Vue d'ensemble : Le Tableau de Bord  L'espace de travail central une fois l'installation terminée. Il offre une visibilité immédiate sur les différentes catégories de gestion : actifs, licences, accessoires, consommables, composants et utilisateurs.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Anna NG</cp:lastModifiedBy>
  <cp:revision>252</cp:revision>
  <dcterms:created xsi:type="dcterms:W3CDTF">2026-02-13T08:47:00Z</dcterms:created>
  <dcterms:modified xsi:type="dcterms:W3CDTF">2026-02-17T08:11:14Z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E99EF2DAAB9C43129D96E30273C19482_12</vt:lpwstr>
  </property>
  <property fmtid="{D5CDD505-2E9C-101B-9397-08002B2CF9AE}" pid="3" name="KSOProductBuildVer">
    <vt:lpwstr>1036-12.2.0.23196</vt:lpwstr>
  </property>
</Properties>
</file>